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commentAuthors.xml" ContentType="application/vnd.openxmlformats-officedocument.presentationml.commentAuthor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13" r:id="rId1"/>
  </p:sldMasterIdLst>
  <p:notesMasterIdLst>
    <p:notesMasterId r:id="rId35"/>
  </p:notesMasterIdLst>
  <p:handoutMasterIdLst>
    <p:handoutMasterId r:id="rId36"/>
  </p:handoutMasterIdLst>
  <p:sldIdLst>
    <p:sldId id="578" r:id="rId2"/>
    <p:sldId id="565" r:id="rId3"/>
    <p:sldId id="587" r:id="rId4"/>
    <p:sldId id="622" r:id="rId5"/>
    <p:sldId id="613" r:id="rId6"/>
    <p:sldId id="623" r:id="rId7"/>
    <p:sldId id="589" r:id="rId8"/>
    <p:sldId id="626" r:id="rId9"/>
    <p:sldId id="615" r:id="rId10"/>
    <p:sldId id="618" r:id="rId11"/>
    <p:sldId id="617" r:id="rId12"/>
    <p:sldId id="619" r:id="rId13"/>
    <p:sldId id="620" r:id="rId14"/>
    <p:sldId id="616" r:id="rId15"/>
    <p:sldId id="610" r:id="rId16"/>
    <p:sldId id="590" r:id="rId17"/>
    <p:sldId id="595" r:id="rId18"/>
    <p:sldId id="621" r:id="rId19"/>
    <p:sldId id="591" r:id="rId20"/>
    <p:sldId id="607" r:id="rId21"/>
    <p:sldId id="606" r:id="rId22"/>
    <p:sldId id="605" r:id="rId23"/>
    <p:sldId id="608" r:id="rId24"/>
    <p:sldId id="594" r:id="rId25"/>
    <p:sldId id="596" r:id="rId26"/>
    <p:sldId id="597" r:id="rId27"/>
    <p:sldId id="624" r:id="rId28"/>
    <p:sldId id="593" r:id="rId29"/>
    <p:sldId id="611" r:id="rId30"/>
    <p:sldId id="609" r:id="rId31"/>
    <p:sldId id="599" r:id="rId32"/>
    <p:sldId id="627" r:id="rId33"/>
    <p:sldId id="576" r:id="rId34"/>
  </p:sldIdLst>
  <p:sldSz cx="9144000" cy="6858000" type="screen4x3"/>
  <p:notesSz cx="6858000" cy="9144000"/>
  <p:custDataLst>
    <p:tags r:id="rId3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itchFamily="1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itchFamily="1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itchFamily="1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itchFamily="1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itchFamily="1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rebuchet MS" pitchFamily="1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rebuchet MS" pitchFamily="1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rebuchet MS" pitchFamily="1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rebuchet MS" pitchFamily="1" charset="0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clrMode="bw" hiddenSlides="1" frameSlides="1"/>
  <p:clrMru>
    <a:srgbClr val="F4793A"/>
    <a:srgbClr val="8B9DA7"/>
    <a:srgbClr val="777777"/>
    <a:srgbClr val="DDDDDD"/>
    <a:srgbClr val="FFFFFF"/>
    <a:srgbClr val="D06800"/>
    <a:srgbClr val="2D7CCF"/>
    <a:srgbClr val="6699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327" autoAdjust="0"/>
    <p:restoredTop sz="74500" autoAdjust="0"/>
  </p:normalViewPr>
  <p:slideViewPr>
    <p:cSldViewPr snapToGrid="0">
      <p:cViewPr>
        <p:scale>
          <a:sx n="70" d="100"/>
          <a:sy n="70" d="100"/>
        </p:scale>
        <p:origin x="-1542" y="-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-1974" y="-84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1">
                <a:latin typeface="Segoe Semibold" pitchFamily="34" charset="0"/>
              </a:defRPr>
            </a:lvl1pPr>
          </a:lstStyle>
          <a:p>
            <a:pPr>
              <a:defRPr/>
            </a:pPr>
            <a:r>
              <a:rPr lang="en-US"/>
              <a:t>MGB 2005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Segoe" pitchFamily="34" charset="0"/>
              </a:defRPr>
            </a:lvl1pPr>
          </a:lstStyle>
          <a:p>
            <a:pPr>
              <a:defRPr/>
            </a:pPr>
            <a:fld id="{07DCEBE7-73AF-4ED8-BCFE-29FD56FB35C3}" type="datetime8">
              <a:rPr lang="en-US"/>
              <a:pPr>
                <a:defRPr/>
              </a:pPr>
              <a:t>8/22/2008 5:15 PM</a:t>
            </a:fld>
            <a:endParaRPr lang="en-US"/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6184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800">
                <a:latin typeface="Segoe" pitchFamily="34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© 2005 Microsoft Corporation. All rights reserved.</a:t>
            </a:r>
          </a:p>
          <a:p>
            <a:pPr>
              <a:defRPr/>
            </a:pPr>
            <a:r>
              <a:rPr lang="en-US"/>
              <a:t>This presentation is for informational purposes only. Microsoft makes no warranties, express or implied, in this summary.</a:t>
            </a:r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6246813" y="8686800"/>
            <a:ext cx="6111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1">
                <a:latin typeface="Segoe Semibold" pitchFamily="34" charset="0"/>
              </a:defRPr>
            </a:lvl1pPr>
          </a:lstStyle>
          <a:p>
            <a:pPr>
              <a:defRPr/>
            </a:pPr>
            <a:fld id="{49BD22C4-D1A8-41ED-928E-915AA736EB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A9D910E3-464B-4DE1-A233-EBF743715C91}" type="datetime8">
              <a:rPr lang="en-US"/>
              <a:pPr>
                <a:defRPr/>
              </a:pPr>
              <a:t>8/22/2008 5:15 PM</a:t>
            </a:fld>
            <a:endParaRPr lang="en-US"/>
          </a:p>
        </p:txBody>
      </p:sp>
      <p:sp>
        <p:nvSpPr>
          <p:cNvPr id="10243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98600" y="266700"/>
            <a:ext cx="4203700" cy="3152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42900" y="3556000"/>
            <a:ext cx="6197600" cy="490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93163"/>
            <a:ext cx="5667375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800">
                <a:latin typeface="Segoe" pitchFamily="34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©2005 Microsoft Corporation. All rights reserved.</a:t>
            </a:r>
          </a:p>
          <a:p>
            <a:pPr>
              <a:defRPr/>
            </a:pPr>
            <a:r>
              <a:rPr lang="en-US"/>
              <a:t>This presentation is for informational purposes only. Microsoft makes no warranties, express or implied, in this summary.</a:t>
            </a:r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3238" y="8799513"/>
            <a:ext cx="12731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A8A8F651-D492-4DEE-8697-AA64A41EEA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 txBox="1">
            <a:spLocks noGrp="1" noChangeArrowheads="1"/>
          </p:cNvSpPr>
          <p:nvPr/>
        </p:nvSpPr>
        <p:spPr bwMode="auto">
          <a:xfrm>
            <a:off x="3884613" y="0"/>
            <a:ext cx="2971800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0B761B11-866D-4701-847D-030DB18EFBF9}" type="datetime8">
              <a:rPr lang="en-US" sz="1200">
                <a:latin typeface="Times New Roman" pitchFamily="1" charset="0"/>
              </a:rPr>
              <a:pPr algn="r"/>
              <a:t>8/22/2008 5:15 PM</a:t>
            </a:fld>
            <a:endParaRPr lang="en-US" sz="1200">
              <a:latin typeface="Times New Roman" pitchFamily="1" charset="0"/>
            </a:endParaRPr>
          </a:p>
        </p:txBody>
      </p:sp>
      <p:sp>
        <p:nvSpPr>
          <p:cNvPr id="11267" name="Rectangle 7"/>
          <p:cNvSpPr txBox="1">
            <a:spLocks noGrp="1" noChangeArrowheads="1"/>
          </p:cNvSpPr>
          <p:nvPr/>
        </p:nvSpPr>
        <p:spPr bwMode="auto">
          <a:xfrm>
            <a:off x="5583238" y="8799513"/>
            <a:ext cx="12731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5664A87-1B34-41B2-BFF2-DFCD38E78435}" type="slidenum">
              <a:rPr lang="en-US" sz="1200">
                <a:latin typeface="Times New Roman" pitchFamily="1" charset="0"/>
              </a:rPr>
              <a:pPr algn="r"/>
              <a:t>1</a:t>
            </a:fld>
            <a:endParaRPr lang="en-US" sz="1200">
              <a:latin typeface="Times New Roman" pitchFamily="1" charset="0"/>
            </a:endParaRPr>
          </a:p>
        </p:txBody>
      </p:sp>
      <p:sp>
        <p:nvSpPr>
          <p:cNvPr id="112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sz="1000" smtClean="0">
              <a:latin typeface="Times New Roman" pitchFamily="1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3C56508B-9758-4F21-AC44-D3A254CE129C}" type="datetime8">
              <a:rPr lang="en-US" smtClean="0">
                <a:latin typeface="Times New Roman" pitchFamily="1" charset="0"/>
              </a:rPr>
              <a:pPr/>
              <a:t>8/22/2008 5:15 PM</a:t>
            </a:fld>
            <a:endParaRPr lang="en-US" smtClean="0">
              <a:latin typeface="Times New Roman" pitchFamily="1" charset="0"/>
            </a:endParaRPr>
          </a:p>
        </p:txBody>
      </p:sp>
      <p:sp>
        <p:nvSpPr>
          <p:cNvPr id="1229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3E6921-DDE2-4E61-84AF-B544D13F716A}" type="slidenum">
              <a:rPr lang="en-US" smtClean="0">
                <a:latin typeface="Times New Roman" pitchFamily="1" charset="0"/>
              </a:rPr>
              <a:pPr/>
              <a:t>2</a:t>
            </a:fld>
            <a:endParaRPr lang="en-US" smtClean="0">
              <a:latin typeface="Times New Roman" pitchFamily="1" charset="0"/>
            </a:endParaRPr>
          </a:p>
        </p:txBody>
      </p:sp>
      <p:sp>
        <p:nvSpPr>
          <p:cNvPr id="122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/>
          <a:lstStyle/>
          <a:p>
            <a:pPr eaLnBrk="1" hangingPunct="1"/>
            <a:r>
              <a:rPr lang="en-US" dirty="0" smtClean="0">
                <a:latin typeface="Times New Roman" pitchFamily="1" charset="0"/>
              </a:rPr>
              <a:t>		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A9D910E3-464B-4DE1-A233-EBF743715C91}" type="datetime8">
              <a:rPr lang="en-US" smtClean="0"/>
              <a:pPr>
                <a:defRPr/>
              </a:pPr>
              <a:t>8/22/2008 5:15 PM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8A8F651-D492-4DEE-8697-AA64A41EEA45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A9D910E3-464B-4DE1-A233-EBF743715C91}" type="datetime8">
              <a:rPr lang="en-US" smtClean="0"/>
              <a:pPr>
                <a:defRPr/>
              </a:pPr>
              <a:t>8/22/2008 5:15 PM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8A8F651-D492-4DEE-8697-AA64A41EEA45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A9D910E3-464B-4DE1-A233-EBF743715C91}" type="datetime8">
              <a:rPr lang="en-US" smtClean="0"/>
              <a:pPr>
                <a:defRPr/>
              </a:pPr>
              <a:t>8/22/2008 5:15 PM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8A8F651-D492-4DEE-8697-AA64A41EEA45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A9D910E3-464B-4DE1-A233-EBF743715C91}" type="datetime8">
              <a:rPr lang="en-US" smtClean="0"/>
              <a:pPr>
                <a:defRPr/>
              </a:pPr>
              <a:t>8/22/2008 5:15 PM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8A8F651-D492-4DEE-8697-AA64A41EEA45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A9D910E3-464B-4DE1-A233-EBF743715C91}" type="datetime8">
              <a:rPr lang="en-US" smtClean="0"/>
              <a:pPr>
                <a:defRPr/>
              </a:pPr>
              <a:t>8/22/2008 5:15 PM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8A8F651-D492-4DEE-8697-AA64A41EEA45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A9D910E3-464B-4DE1-A233-EBF743715C91}" type="datetime8">
              <a:rPr lang="en-US" smtClean="0"/>
              <a:pPr>
                <a:defRPr/>
              </a:pPr>
              <a:t>8/22/2008 5:15 PM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8A8F651-D492-4DEE-8697-AA64A41EEA45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A9D910E3-464B-4DE1-A233-EBF743715C91}" type="datetime8">
              <a:rPr lang="en-US" smtClean="0"/>
              <a:pPr>
                <a:defRPr/>
              </a:pPr>
              <a:t>8/22/2008 5:15 PM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8A8F651-D492-4DEE-8697-AA64A41EEA45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A9D910E3-464B-4DE1-A233-EBF743715C91}" type="datetime8">
              <a:rPr lang="en-US" smtClean="0"/>
              <a:pPr>
                <a:defRPr/>
              </a:pPr>
              <a:t>8/22/2008 5:15 PM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8A8F651-D492-4DEE-8697-AA64A41EEA45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Menus and Navigation</a:t>
            </a:r>
          </a:p>
          <a:p>
            <a:r>
              <a:rPr lang="en-US" dirty="0" smtClean="0"/>
              <a:t>10 foot experience</a:t>
            </a:r>
          </a:p>
          <a:p>
            <a:r>
              <a:rPr lang="en-US" dirty="0" smtClean="0"/>
              <a:t>Options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A9D910E3-464B-4DE1-A233-EBF743715C91}" type="datetime8">
              <a:rPr lang="en-US" smtClean="0"/>
              <a:pPr>
                <a:defRPr/>
              </a:pPr>
              <a:t>8/22/2008 5:15 PM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8A8F651-D492-4DEE-8697-AA64A41EEA45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A9D910E3-464B-4DE1-A233-EBF743715C91}" type="datetime8">
              <a:rPr lang="en-US" smtClean="0"/>
              <a:pPr>
                <a:defRPr/>
              </a:pPr>
              <a:t>8/22/2008 5:15 PM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8A8F651-D492-4DEE-8697-AA64A41EEA45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A9D910E3-464B-4DE1-A233-EBF743715C91}" type="datetime8">
              <a:rPr lang="en-US" smtClean="0"/>
              <a:pPr>
                <a:defRPr/>
              </a:pPr>
              <a:t>8/22/2008 5:15 PM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8A8F651-D492-4DEE-8697-AA64A41EEA45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A9D910E3-464B-4DE1-A233-EBF743715C91}" type="datetime8">
              <a:rPr lang="en-US" smtClean="0"/>
              <a:pPr>
                <a:defRPr/>
              </a:pPr>
              <a:t>8/22/2008 5:15 PM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8A8F651-D492-4DEE-8697-AA64A41EEA45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A9D910E3-464B-4DE1-A233-EBF743715C91}" type="datetime8">
              <a:rPr lang="en-US" smtClean="0"/>
              <a:pPr>
                <a:defRPr/>
              </a:pPr>
              <a:t>8/22/2008 5:15 PM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8A8F651-D492-4DEE-8697-AA64A41EEA45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A9D910E3-464B-4DE1-A233-EBF743715C91}" type="datetime8">
              <a:rPr lang="en-US" smtClean="0"/>
              <a:pPr>
                <a:defRPr/>
              </a:pPr>
              <a:t>8/22/2008 5:15 PM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8A8F651-D492-4DEE-8697-AA64A41EEA45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A9D910E3-464B-4DE1-A233-EBF743715C91}" type="datetime8">
              <a:rPr lang="en-US" smtClean="0"/>
              <a:pPr>
                <a:defRPr/>
              </a:pPr>
              <a:t>8/22/2008 5:15 PM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8A8F651-D492-4DEE-8697-AA64A41EEA45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A9D910E3-464B-4DE1-A233-EBF743715C91}" type="datetime8">
              <a:rPr lang="en-US" smtClean="0"/>
              <a:pPr>
                <a:defRPr/>
              </a:pPr>
              <a:t>8/22/2008 5:15 PM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8A8F651-D492-4DEE-8697-AA64A41EEA45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A9D910E3-464B-4DE1-A233-EBF743715C91}" type="datetime8">
              <a:rPr lang="en-US" smtClean="0"/>
              <a:pPr>
                <a:defRPr/>
              </a:pPr>
              <a:t>8/22/2008 5:15 PM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8A8F651-D492-4DEE-8697-AA64A41EEA45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A9D910E3-464B-4DE1-A233-EBF743715C91}" type="datetime8">
              <a:rPr lang="en-US" smtClean="0"/>
              <a:pPr>
                <a:defRPr/>
              </a:pPr>
              <a:t>8/22/2008 5:15 PM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8A8F651-D492-4DEE-8697-AA64A41EEA45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A9D910E3-464B-4DE1-A233-EBF743715C91}" type="datetime8">
              <a:rPr lang="en-US" smtClean="0"/>
              <a:pPr>
                <a:defRPr/>
              </a:pPr>
              <a:t>8/22/2008 5:15 PM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8A8F651-D492-4DEE-8697-AA64A41EEA45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A9D910E3-464B-4DE1-A233-EBF743715C91}" type="datetime8">
              <a:rPr lang="en-US" smtClean="0"/>
              <a:pPr>
                <a:defRPr/>
              </a:pPr>
              <a:t>8/22/2008 5:15 PM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8A8F651-D492-4DEE-8697-AA64A41EEA45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A9D910E3-464B-4DE1-A233-EBF743715C91}" type="datetime8">
              <a:rPr lang="en-US" smtClean="0"/>
              <a:pPr>
                <a:defRPr/>
              </a:pPr>
              <a:t>8/22/2008 5:15 PM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8A8F651-D492-4DEE-8697-AA64A41EEA45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A9D910E3-464B-4DE1-A233-EBF743715C91}" type="datetime8">
              <a:rPr lang="en-US" smtClean="0"/>
              <a:pPr>
                <a:defRPr/>
              </a:pPr>
              <a:t>8/22/2008 5:15 PM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8A8F651-D492-4DEE-8697-AA64A41EEA45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A9D910E3-464B-4DE1-A233-EBF743715C91}" type="datetime8">
              <a:rPr lang="en-US" smtClean="0"/>
              <a:pPr>
                <a:defRPr/>
              </a:pPr>
              <a:t>8/22/2008 5:15 PM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8A8F651-D492-4DEE-8697-AA64A41EEA45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A9D910E3-464B-4DE1-A233-EBF743715C91}" type="datetime8">
              <a:rPr lang="en-US" smtClean="0"/>
              <a:pPr>
                <a:defRPr/>
              </a:pPr>
              <a:t>8/22/2008 5:15 PM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8A8F651-D492-4DEE-8697-AA64A41EEA45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67B231F0-B11B-407F-BBE4-2A255741BC3F}" type="datetime8">
              <a:rPr lang="en-US" smtClean="0">
                <a:latin typeface="Times New Roman" pitchFamily="1" charset="0"/>
              </a:rPr>
              <a:pPr/>
              <a:t>8/22/2008 5:15 PM</a:t>
            </a:fld>
            <a:endParaRPr lang="en-US" smtClean="0">
              <a:latin typeface="Times New Roman" pitchFamily="1" charset="0"/>
            </a:endParaRPr>
          </a:p>
        </p:txBody>
      </p:sp>
      <p:sp>
        <p:nvSpPr>
          <p:cNvPr id="1433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C1AEA96-5D51-465D-B1A3-C312807C2B88}" type="slidenum">
              <a:rPr lang="en-US" smtClean="0">
                <a:latin typeface="Times New Roman" pitchFamily="1" charset="0"/>
              </a:rPr>
              <a:pPr/>
              <a:t>33</a:t>
            </a:fld>
            <a:endParaRPr lang="en-US" smtClean="0">
              <a:latin typeface="Times New Roman" pitchFamily="1" charset="0"/>
            </a:endParaRPr>
          </a:p>
        </p:txBody>
      </p:sp>
      <p:sp>
        <p:nvSpPr>
          <p:cNvPr id="143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sz="1000" smtClean="0">
              <a:latin typeface="Times New Roman" pitchFamily="1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Gamefest2008LogoPPT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178675" y="6208713"/>
            <a:ext cx="1847850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8077200" cy="1409700"/>
          </a:xfrm>
          <a:ln algn="ctr"/>
        </p:spPr>
        <p:txBody>
          <a:bodyPr anchor="ctr"/>
          <a:lstStyle>
            <a:lvl1pPr>
              <a:defRPr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4384675"/>
            <a:ext cx="8077200" cy="530225"/>
          </a:xfrm>
        </p:spPr>
        <p:txBody>
          <a:bodyPr/>
          <a:lstStyle>
            <a:lvl1pPr marL="0" indent="0">
              <a:spcBef>
                <a:spcPct val="0"/>
              </a:spcBef>
              <a:buFont typeface="Wingdings 2" pitchFamily="18" charset="2"/>
              <a:buNone/>
              <a:defRPr>
                <a:latin typeface="Segoe" pitchFamily="34" charset="0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14325" y="1084263"/>
            <a:ext cx="8524875" cy="541514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subTitle" idx="4294967295"/>
          </p:nvPr>
        </p:nvSpPr>
        <p:spPr>
          <a:xfrm>
            <a:off x="1085850" y="3421063"/>
            <a:ext cx="5389563" cy="1421928"/>
          </a:xfrm>
          <a:noFill/>
        </p:spPr>
        <p:txBody>
          <a:bodyPr/>
          <a:lstStyle>
            <a:lvl1pPr marL="0" indent="0" eaLnBrk="1" hangingPunct="1">
              <a:spcBef>
                <a:spcPct val="0"/>
              </a:spcBef>
              <a:buClr>
                <a:schemeClr val="tx2"/>
              </a:buClr>
              <a:buFont typeface="Wingdings 2" pitchFamily="1" charset="2"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 dirty="0" smtClean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0318" y="1076979"/>
            <a:ext cx="4280647" cy="5153492"/>
          </a:xfrm>
        </p:spPr>
        <p:txBody>
          <a:bodyPr/>
          <a:lstStyle>
            <a:lvl1pPr>
              <a:defRPr sz="2800">
                <a:effectLst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3539" y="1068013"/>
            <a:ext cx="4214626" cy="514452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subTitle" idx="4294967295"/>
          </p:nvPr>
        </p:nvSpPr>
        <p:spPr>
          <a:xfrm>
            <a:off x="1085850" y="3421063"/>
            <a:ext cx="5389563" cy="1421928"/>
          </a:xfrm>
          <a:noFill/>
        </p:spPr>
        <p:txBody>
          <a:bodyPr/>
          <a:lstStyle>
            <a:lvl1pPr marL="0" indent="0" eaLnBrk="1" hangingPunct="1">
              <a:spcBef>
                <a:spcPct val="0"/>
              </a:spcBef>
              <a:buClr>
                <a:schemeClr val="tx2"/>
              </a:buClr>
              <a:buFont typeface="Wingdings 2" pitchFamily="1" charset="2"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 dirty="0" smtClean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1016634" y="1794828"/>
            <a:ext cx="7212966" cy="1421928"/>
          </a:xfrm>
        </p:spPr>
        <p:txBody>
          <a:bodyPr/>
          <a:lstStyle>
            <a:lvl1pPr>
              <a:buNone/>
              <a:defRPr lang="en-US" sz="9600" i="1" dirty="0" smtClean="0">
                <a:effectLst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228600"/>
            <a:ext cx="8515350" cy="750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047380"/>
            <a:ext cx="8443913" cy="221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pic>
        <p:nvPicPr>
          <p:cNvPr id="1028" name="Picture 14" descr="Gamefest2008LogoPPT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7178675" y="6208713"/>
            <a:ext cx="1847850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716" r:id="rId1"/>
    <p:sldLayoutId id="2147483720" r:id="rId2"/>
    <p:sldLayoutId id="2147483722" r:id="rId3"/>
    <p:sldLayoutId id="2147483717" r:id="rId4"/>
    <p:sldLayoutId id="2147483721" r:id="rId5"/>
    <p:sldLayoutId id="2147483719" r:id="rId6"/>
    <p:sldLayoutId id="2147483718" r:id="rId7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rgbClr val="F4793A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rgbClr val="F4793A"/>
          </a:solidFill>
          <a:effectLst>
            <a:outerShdw blurRad="38100" dist="38100" dir="2700000" algn="tl">
              <a:srgbClr val="000000"/>
            </a:outerShdw>
          </a:effectLst>
          <a:latin typeface="Trebuchet MS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rgbClr val="F4793A"/>
          </a:solidFill>
          <a:effectLst>
            <a:outerShdw blurRad="38100" dist="38100" dir="2700000" algn="tl">
              <a:srgbClr val="000000"/>
            </a:outerShdw>
          </a:effectLst>
          <a:latin typeface="Trebuchet MS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rgbClr val="F4793A"/>
          </a:solidFill>
          <a:effectLst>
            <a:outerShdw blurRad="38100" dist="38100" dir="2700000" algn="tl">
              <a:srgbClr val="000000"/>
            </a:outerShdw>
          </a:effectLst>
          <a:latin typeface="Trebuchet MS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rgbClr val="F4793A"/>
          </a:solidFill>
          <a:effectLst>
            <a:outerShdw blurRad="38100" dist="38100" dir="2700000" algn="tl">
              <a:srgbClr val="000000"/>
            </a:outerShdw>
          </a:effectLst>
          <a:latin typeface="Trebuchet MS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rebuchet MS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rebuchet MS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rebuchet MS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rebuchet MS" pitchFamily="34" charset="0"/>
        </a:defRPr>
      </a:lvl9pPr>
    </p:titleStyle>
    <p:bodyStyle>
      <a:lvl1pPr marL="447675" indent="-447675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rgbClr val="8B9DA7"/>
        </a:buClr>
        <a:buFont typeface="Times" pitchFamily="1" charset="0"/>
        <a:buBlip>
          <a:blip r:embed="rId11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858838" indent="-409575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rgbClr val="8B9DA7"/>
        </a:buClr>
        <a:buFont typeface="Times" pitchFamily="1" charset="0"/>
        <a:buBlip>
          <a:blip r:embed="rId11"/>
        </a:buBlip>
        <a:defRPr sz="2800">
          <a:solidFill>
            <a:schemeClr val="tx1"/>
          </a:solidFill>
          <a:latin typeface="+mn-lt"/>
        </a:defRPr>
      </a:lvl2pPr>
      <a:lvl3pPr marL="1262063" indent="-401638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rgbClr val="8B9DA7"/>
        </a:buClr>
        <a:buFont typeface="Times" pitchFamily="1" charset="0"/>
        <a:buBlip>
          <a:blip r:embed="rId11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33655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rgbClr val="8B9DA7"/>
        </a:buClr>
        <a:buFont typeface="Times" pitchFamily="1" charset="0"/>
        <a:buBlip>
          <a:blip r:embed="rId11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1947863" indent="-346075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rgbClr val="8B9DA7"/>
        </a:buClr>
        <a:buFont typeface="Times" pitchFamily="1" charset="0"/>
        <a:buBlip>
          <a:blip r:embed="rId11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405063" indent="-346075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Wingdings 2" pitchFamily="18" charset="2"/>
        <a:buBlip>
          <a:blip r:embed="rId12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862263" indent="-346075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Wingdings 2" pitchFamily="18" charset="2"/>
        <a:buBlip>
          <a:blip r:embed="rId12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319463" indent="-346075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Wingdings 2" pitchFamily="18" charset="2"/>
        <a:buBlip>
          <a:blip r:embed="rId12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776663" indent="-346075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Wingdings 2" pitchFamily="18" charset="2"/>
        <a:buBlip>
          <a:blip r:embed="rId12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5" Type="http://schemas.openxmlformats.org/officeDocument/2006/relationships/image" Target="../media/image12.png"/><Relationship Id="rId4" Type="http://schemas.openxmlformats.org/officeDocument/2006/relationships/image" Target="../media/image11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://creators.xna.com/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xna.com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" descr="Gamefest2008LogoPPT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1625" y="2082800"/>
            <a:ext cx="5259388" cy="150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4" descr="XNA Logo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477125" y="222250"/>
            <a:ext cx="1482725" cy="69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5" descr="MicrosoftLogoWhite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093075" y="6327775"/>
            <a:ext cx="792163" cy="15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54050" y="1470025"/>
            <a:ext cx="8077200" cy="1274195"/>
          </a:xfrm>
          <a:noFill/>
          <a:ln/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b="1" dirty="0" smtClean="0"/>
              <a:t>Creating Great Community Games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2789594"/>
            <a:ext cx="8077200" cy="1865126"/>
          </a:xfrm>
          <a:noFill/>
        </p:spPr>
        <p:txBody>
          <a:bodyPr/>
          <a:lstStyle/>
          <a:p>
            <a:pPr eaLnBrk="1" hangingPunct="1">
              <a:buClr>
                <a:schemeClr val="tx2"/>
              </a:buClr>
              <a:buFont typeface="Wingdings 2" pitchFamily="1" charset="2"/>
              <a:buNone/>
            </a:pPr>
            <a:r>
              <a:rPr lang="en-US" dirty="0" smtClean="0">
                <a:effectLst/>
                <a:latin typeface="Trebuchet MS" pitchFamily="1" charset="0"/>
              </a:rPr>
              <a:t>Mitch Walker</a:t>
            </a:r>
          </a:p>
          <a:p>
            <a:pPr eaLnBrk="1" hangingPunct="1">
              <a:buClr>
                <a:schemeClr val="tx2"/>
              </a:buClr>
              <a:buFont typeface="Wingdings 2" pitchFamily="1" charset="2"/>
              <a:buNone/>
            </a:pPr>
            <a:r>
              <a:rPr lang="en-US" dirty="0" smtClean="0">
                <a:effectLst/>
                <a:latin typeface="Trebuchet MS" pitchFamily="1" charset="0"/>
              </a:rPr>
              <a:t>Program Manager</a:t>
            </a:r>
          </a:p>
          <a:p>
            <a:pPr eaLnBrk="1" hangingPunct="1">
              <a:buClr>
                <a:schemeClr val="tx2"/>
              </a:buClr>
              <a:buFont typeface="Wingdings 2" pitchFamily="1" charset="2"/>
              <a:buNone/>
            </a:pPr>
            <a:r>
              <a:rPr lang="en-US" dirty="0" smtClean="0">
                <a:effectLst/>
                <a:latin typeface="Trebuchet MS" pitchFamily="1" charset="0"/>
              </a:rPr>
              <a:t>XNA Community Game Platform</a:t>
            </a:r>
            <a:br>
              <a:rPr lang="en-US" dirty="0" smtClean="0">
                <a:effectLst/>
                <a:latin typeface="Trebuchet MS" pitchFamily="1" charset="0"/>
              </a:rPr>
            </a:br>
            <a:r>
              <a:rPr lang="en-US" dirty="0" smtClean="0">
                <a:effectLst/>
                <a:latin typeface="Trebuchet MS" pitchFamily="1" charset="0"/>
              </a:rPr>
              <a:t>Microsoft</a:t>
            </a:r>
          </a:p>
        </p:txBody>
      </p:sp>
      <p:pic>
        <p:nvPicPr>
          <p:cNvPr id="1026" name="Picture 2" descr="\\xboxfs01\xna\Private\Marketing\ProSource\nOggins\nog_buil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3931" y="4432300"/>
            <a:ext cx="2959100" cy="242570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Should I Care?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981584" y="1600200"/>
            <a:ext cx="6012288" cy="4099584"/>
          </a:xfrm>
          <a:prstGeom prst="rect">
            <a:avLst/>
          </a:prstGeom>
        </p:spPr>
        <p:txBody>
          <a:bodyPr/>
          <a:lstStyle/>
          <a:p>
            <a:r>
              <a:rPr lang="en-US" sz="2800" dirty="0" smtClean="0"/>
              <a:t>You want to create a game</a:t>
            </a:r>
          </a:p>
          <a:p>
            <a:r>
              <a:rPr lang="en-US" sz="2800" dirty="0" smtClean="0"/>
              <a:t>You want to distribute it through Xbox LIVE</a:t>
            </a:r>
          </a:p>
          <a:p>
            <a:r>
              <a:rPr lang="en-US" sz="2800" dirty="0" smtClean="0"/>
              <a:t>Customers expectations will be high</a:t>
            </a:r>
          </a:p>
          <a:p>
            <a:r>
              <a:rPr lang="en-US" sz="2800" dirty="0" smtClean="0"/>
              <a:t>Don’t drive away a potential customer</a:t>
            </a:r>
          </a:p>
          <a:p>
            <a:r>
              <a:rPr lang="en-US" sz="2800" dirty="0" smtClean="0"/>
              <a:t>Goal is more people playing your game</a:t>
            </a:r>
            <a:endParaRPr lang="en-US" sz="2800" dirty="0"/>
          </a:p>
        </p:txBody>
      </p:sp>
      <p:pic>
        <p:nvPicPr>
          <p:cNvPr id="1034" name="Picture 10" descr="C:\Users\mitchw\AppData\Local\Microsoft\Windows\Temporary Internet Files\Content.IE5\M3ITTGVW\MCj04231690000[1].wm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8809" y="2586328"/>
            <a:ext cx="1828800" cy="1828800"/>
          </a:xfrm>
          <a:prstGeom prst="rect">
            <a:avLst/>
          </a:prstGeom>
          <a:noFill/>
        </p:spPr>
      </p:pic>
      <p:pic>
        <p:nvPicPr>
          <p:cNvPr id="1035" name="Picture 11" descr="C:\Users\mitchw\AppData\Local\Microsoft\Windows\Temporary Internet Files\Content.IE5\HYIZ437A\MCj04231630000[1].wmf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8809" y="2586328"/>
            <a:ext cx="1828800" cy="1828800"/>
          </a:xfrm>
          <a:prstGeom prst="rect">
            <a:avLst/>
          </a:prstGeom>
          <a:noFill/>
        </p:spPr>
      </p:pic>
      <p:pic>
        <p:nvPicPr>
          <p:cNvPr id="1043" name="Picture 19" descr="C:\Users\mitchw\AppData\Local\Microsoft\Windows\Temporary Internet Files\Content.IE5\M3ITTGVW\MCj04315120000[1]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33765" y="2491284"/>
            <a:ext cx="2018888" cy="2018888"/>
          </a:xfrm>
          <a:prstGeom prst="rect">
            <a:avLst/>
          </a:prstGeom>
          <a:noFill/>
        </p:spPr>
      </p:pic>
      <p:pic>
        <p:nvPicPr>
          <p:cNvPr id="1049" name="Picture 25" descr="C:\Users\mitchw\AppData\Local\Microsoft\Windows\Temporary Internet Files\Content.IE5\PDCHYMF2\MCj04247640000[1].wmf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28858" y="2470544"/>
            <a:ext cx="2428702" cy="2060369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8077200" cy="757130"/>
          </a:xfrm>
        </p:spPr>
        <p:txBody>
          <a:bodyPr/>
          <a:lstStyle/>
          <a:p>
            <a:r>
              <a:rPr lang="en-US" dirty="0" smtClean="0">
                <a:effectLst>
                  <a:outerShdw blurRad="76200" dist="38100" dir="2700000" algn="ctr" rotWithShape="0">
                    <a:schemeClr val="bg2"/>
                  </a:outerShdw>
                  <a:reflection blurRad="6350" stA="55000" endA="300" endPos="45500" dir="5400000" sy="-100000" algn="bl" rotWithShape="0"/>
                </a:effectLst>
              </a:rPr>
              <a:t>Design Considerations</a:t>
            </a:r>
            <a:endParaRPr lang="en-US" dirty="0">
              <a:effectLst>
                <a:outerShdw blurRad="76200" dist="38100" dir="2700000" algn="ctr" rotWithShape="0">
                  <a:schemeClr val="bg2"/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Makes a Good Game?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20720" y="1081576"/>
            <a:ext cx="8229600" cy="469051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Microsoft doesn’t determine what is or is not a game</a:t>
            </a:r>
          </a:p>
          <a:p>
            <a:r>
              <a:rPr lang="en-US" dirty="0" smtClean="0"/>
              <a:t>…or what is fun</a:t>
            </a:r>
          </a:p>
          <a:p>
            <a:r>
              <a:rPr lang="en-US" dirty="0" smtClean="0"/>
              <a:t>Most games will be played for short durations, design for this</a:t>
            </a:r>
          </a:p>
          <a:p>
            <a:r>
              <a:rPr lang="en-US" dirty="0" smtClean="0"/>
              <a:t>Your game should be easy to learn</a:t>
            </a:r>
          </a:p>
          <a:p>
            <a:r>
              <a:rPr lang="en-US" dirty="0" smtClean="0"/>
              <a:t>Consistent user experience is important</a:t>
            </a:r>
          </a:p>
          <a:p>
            <a:pPr lvl="1"/>
            <a:r>
              <a:rPr lang="en-US" dirty="0" smtClean="0"/>
              <a:t>The less your customer has to learn, the better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Game Flow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 bwMode="auto">
          <a:xfrm>
            <a:off x="295619" y="3257417"/>
            <a:ext cx="1590348" cy="671858"/>
          </a:xfrm>
          <a:prstGeom prst="roundRect">
            <a:avLst/>
          </a:prstGeom>
          <a:solidFill>
            <a:srgbClr val="F4793A"/>
          </a:solidFill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b="1" dirty="0" smtClean="0">
                <a:solidFill>
                  <a:schemeClr val="tx1"/>
                </a:solidFill>
                <a:effectLst>
                  <a:outerShdw blurRad="50800" dist="50800" dir="2700000" algn="ctr" rotWithShape="0">
                    <a:schemeClr val="bg2"/>
                  </a:outerShdw>
                </a:effectLst>
                <a:latin typeface="Trebuchet MS" pitchFamily="34" charset="0"/>
              </a:rPr>
              <a:t>Starting</a:t>
            </a: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50800" dist="50800" dir="2700000" algn="ctr" rotWithShape="0">
                  <a:schemeClr val="bg2"/>
                </a:outerShdw>
              </a:effectLst>
              <a:latin typeface="Trebuchet MS" pitchFamily="34" charset="0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2544888" y="3257417"/>
            <a:ext cx="1590348" cy="671858"/>
          </a:xfrm>
          <a:prstGeom prst="roundRect">
            <a:avLst/>
          </a:prstGeom>
          <a:solidFill>
            <a:srgbClr val="F4793A"/>
          </a:solidFill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b="1" dirty="0" smtClean="0">
                <a:solidFill>
                  <a:schemeClr val="tx1"/>
                </a:solidFill>
                <a:effectLst>
                  <a:outerShdw blurRad="50800" dist="50800" dir="2700000" algn="ctr" rotWithShape="0">
                    <a:schemeClr val="bg2"/>
                  </a:outerShdw>
                </a:effectLst>
                <a:latin typeface="Trebuchet MS" pitchFamily="34" charset="0"/>
              </a:rPr>
              <a:t>Loading</a:t>
            </a: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50800" dist="50800" dir="2700000" algn="ctr" rotWithShape="0">
                  <a:schemeClr val="bg2"/>
                </a:outerShdw>
              </a:effectLst>
              <a:latin typeface="Trebuchet MS" pitchFamily="34" charset="0"/>
            </a:endParaRPr>
          </a:p>
        </p:txBody>
      </p:sp>
      <p:sp>
        <p:nvSpPr>
          <p:cNvPr id="7" name="Rounded Rectangle 6"/>
          <p:cNvSpPr/>
          <p:nvPr/>
        </p:nvSpPr>
        <p:spPr bwMode="auto">
          <a:xfrm>
            <a:off x="4794158" y="3259751"/>
            <a:ext cx="1590348" cy="671858"/>
          </a:xfrm>
          <a:prstGeom prst="roundRect">
            <a:avLst/>
          </a:prstGeom>
          <a:solidFill>
            <a:srgbClr val="0070C0"/>
          </a:solidFill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b="1" dirty="0" smtClean="0">
                <a:solidFill>
                  <a:schemeClr val="tx1"/>
                </a:solidFill>
                <a:effectLst>
                  <a:outerShdw blurRad="50800" dist="50800" dir="2700000" algn="ctr" rotWithShape="0">
                    <a:schemeClr val="bg2"/>
                  </a:outerShdw>
                </a:effectLst>
                <a:latin typeface="Trebuchet MS" pitchFamily="34" charset="0"/>
              </a:rPr>
              <a:t>Main Menu</a:t>
            </a: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50800" dist="50800" dir="2700000" algn="ctr" rotWithShape="0">
                  <a:schemeClr val="bg2"/>
                </a:outerShdw>
              </a:effectLst>
              <a:latin typeface="Trebuchet MS" pitchFamily="34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4794158" y="1729800"/>
            <a:ext cx="1802128" cy="851971"/>
            <a:chOff x="4794158" y="1729800"/>
            <a:chExt cx="1802128" cy="851971"/>
          </a:xfrm>
        </p:grpSpPr>
        <p:sp>
          <p:nvSpPr>
            <p:cNvPr id="18" name="Rounded Rectangle 17"/>
            <p:cNvSpPr/>
            <p:nvPr/>
          </p:nvSpPr>
          <p:spPr bwMode="auto">
            <a:xfrm>
              <a:off x="5005938" y="1729800"/>
              <a:ext cx="1590348" cy="671858"/>
            </a:xfrm>
            <a:prstGeom prst="roundRect">
              <a:avLst/>
            </a:prstGeom>
            <a:solidFill>
              <a:srgbClr val="0070C0"/>
            </a:solidFill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b="1" dirty="0" smtClean="0">
                  <a:solidFill>
                    <a:schemeClr val="tx1"/>
                  </a:solidFill>
                  <a:effectLst>
                    <a:outerShdw blurRad="50800" dist="50800" dir="2700000" algn="ctr" rotWithShape="0">
                      <a:schemeClr val="bg2"/>
                    </a:outerShdw>
                  </a:effectLst>
                  <a:latin typeface="Trebuchet MS" pitchFamily="34" charset="0"/>
                </a:rPr>
                <a:t>Options</a:t>
              </a:r>
              <a:endPara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50800" dist="50800" dir="2700000" algn="ctr" rotWithShape="0">
                    <a:schemeClr val="bg2"/>
                  </a:outerShdw>
                </a:effectLst>
                <a:latin typeface="Trebuchet MS" pitchFamily="34" charset="0"/>
              </a:endParaRPr>
            </a:p>
          </p:txBody>
        </p:sp>
        <p:sp>
          <p:nvSpPr>
            <p:cNvPr id="17" name="Rounded Rectangle 16"/>
            <p:cNvSpPr/>
            <p:nvPr/>
          </p:nvSpPr>
          <p:spPr bwMode="auto">
            <a:xfrm>
              <a:off x="4899058" y="1812930"/>
              <a:ext cx="1590348" cy="671858"/>
            </a:xfrm>
            <a:prstGeom prst="roundRect">
              <a:avLst/>
            </a:prstGeom>
            <a:solidFill>
              <a:srgbClr val="0070C0"/>
            </a:solidFill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b="1" dirty="0" smtClean="0">
                  <a:solidFill>
                    <a:schemeClr val="tx1"/>
                  </a:solidFill>
                  <a:effectLst>
                    <a:outerShdw blurRad="50800" dist="50800" dir="2700000" algn="ctr" rotWithShape="0">
                      <a:schemeClr val="bg2"/>
                    </a:outerShdw>
                  </a:effectLst>
                  <a:latin typeface="Trebuchet MS" pitchFamily="34" charset="0"/>
                </a:rPr>
                <a:t>Options</a:t>
              </a:r>
              <a:endPara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50800" dist="50800" dir="2700000" algn="ctr" rotWithShape="0">
                    <a:schemeClr val="bg2"/>
                  </a:outerShdw>
                </a:effectLst>
                <a:latin typeface="Trebuchet MS" pitchFamily="34" charset="0"/>
              </a:endParaRPr>
            </a:p>
          </p:txBody>
        </p:sp>
        <p:sp>
          <p:nvSpPr>
            <p:cNvPr id="9" name="Rounded Rectangle 8"/>
            <p:cNvSpPr/>
            <p:nvPr/>
          </p:nvSpPr>
          <p:spPr bwMode="auto">
            <a:xfrm>
              <a:off x="4794158" y="1909913"/>
              <a:ext cx="1590348" cy="671858"/>
            </a:xfrm>
            <a:prstGeom prst="roundRect">
              <a:avLst/>
            </a:prstGeom>
            <a:solidFill>
              <a:srgbClr val="0070C0"/>
            </a:solidFill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b="1" dirty="0" smtClean="0">
                  <a:solidFill>
                    <a:schemeClr val="tx1"/>
                  </a:solidFill>
                  <a:effectLst>
                    <a:outerShdw blurRad="50800" dist="50800" dir="2700000" algn="ctr" rotWithShape="0">
                      <a:schemeClr val="bg2"/>
                    </a:outerShdw>
                  </a:effectLst>
                  <a:latin typeface="Trebuchet MS" pitchFamily="34" charset="0"/>
                </a:rPr>
                <a:t>Help &amp; Options</a:t>
              </a:r>
              <a:endPara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50800" dist="50800" dir="2700000" algn="ctr" rotWithShape="0">
                    <a:schemeClr val="bg2"/>
                  </a:outerShdw>
                </a:effectLst>
                <a:latin typeface="Trebuchet MS" pitchFamily="34" charset="0"/>
              </a:endParaRPr>
            </a:p>
          </p:txBody>
        </p:sp>
      </p:grpSp>
      <p:sp>
        <p:nvSpPr>
          <p:cNvPr id="10" name="Rounded Rectangle 9"/>
          <p:cNvSpPr/>
          <p:nvPr/>
        </p:nvSpPr>
        <p:spPr bwMode="auto">
          <a:xfrm>
            <a:off x="7043426" y="3257417"/>
            <a:ext cx="1590348" cy="671858"/>
          </a:xfrm>
          <a:prstGeom prst="roundRect">
            <a:avLst/>
          </a:prstGeom>
          <a:solidFill>
            <a:srgbClr val="00B050"/>
          </a:solidFill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b="1" dirty="0" smtClean="0">
                <a:solidFill>
                  <a:schemeClr val="tx1"/>
                </a:solidFill>
                <a:effectLst>
                  <a:outerShdw blurRad="50800" dist="50800" dir="2700000" algn="ctr" rotWithShape="0">
                    <a:schemeClr val="bg2"/>
                  </a:outerShdw>
                </a:effectLst>
                <a:latin typeface="Trebuchet MS" pitchFamily="34" charset="0"/>
              </a:rPr>
              <a:t>Playing</a:t>
            </a: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50800" dist="50800" dir="2700000" algn="ctr" rotWithShape="0">
                  <a:schemeClr val="bg2"/>
                </a:outerShdw>
              </a:effectLst>
              <a:latin typeface="Trebuchet MS" pitchFamily="34" charset="0"/>
            </a:endParaRPr>
          </a:p>
        </p:txBody>
      </p:sp>
      <p:sp>
        <p:nvSpPr>
          <p:cNvPr id="11" name="Rounded Rectangle 10"/>
          <p:cNvSpPr/>
          <p:nvPr/>
        </p:nvSpPr>
        <p:spPr bwMode="auto">
          <a:xfrm>
            <a:off x="7043426" y="1909913"/>
            <a:ext cx="1590348" cy="671858"/>
          </a:xfrm>
          <a:prstGeom prst="roundRect">
            <a:avLst/>
          </a:prstGeom>
          <a:solidFill>
            <a:srgbClr val="0070C0"/>
          </a:solidFill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b="1" dirty="0" smtClean="0">
                <a:solidFill>
                  <a:schemeClr val="tx1"/>
                </a:solidFill>
                <a:effectLst>
                  <a:outerShdw blurRad="50800" dist="50800" dir="2700000" algn="ctr" rotWithShape="0">
                    <a:schemeClr val="bg2"/>
                  </a:outerShdw>
                </a:effectLst>
                <a:latin typeface="Trebuchet MS" pitchFamily="34" charset="0"/>
              </a:rPr>
              <a:t>Paused</a:t>
            </a: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50800" dist="50800" dir="2700000" algn="ctr" rotWithShape="0">
                  <a:schemeClr val="bg2"/>
                </a:outerShdw>
              </a:effectLst>
              <a:latin typeface="Trebuchet MS" pitchFamily="34" charset="0"/>
            </a:endParaRPr>
          </a:p>
        </p:txBody>
      </p:sp>
      <p:sp>
        <p:nvSpPr>
          <p:cNvPr id="12" name="Rounded Rectangle 11"/>
          <p:cNvSpPr/>
          <p:nvPr/>
        </p:nvSpPr>
        <p:spPr bwMode="auto">
          <a:xfrm>
            <a:off x="4794158" y="4609590"/>
            <a:ext cx="1590348" cy="671858"/>
          </a:xfrm>
          <a:prstGeom prst="roundRect">
            <a:avLst/>
          </a:prstGeom>
          <a:solidFill>
            <a:srgbClr val="0070C0"/>
          </a:solidFill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b="1" dirty="0" smtClean="0">
                <a:solidFill>
                  <a:schemeClr val="tx1"/>
                </a:solidFill>
                <a:effectLst>
                  <a:outerShdw blurRad="50800" dist="50800" dir="2700000" algn="ctr" rotWithShape="0">
                    <a:schemeClr val="bg2"/>
                  </a:outerShdw>
                </a:effectLst>
                <a:latin typeface="Trebuchet MS" pitchFamily="34" charset="0"/>
              </a:rPr>
              <a:t>Exit</a:t>
            </a: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50800" dist="50800" dir="2700000" algn="ctr" rotWithShape="0">
                  <a:schemeClr val="bg2"/>
                </a:outerShdw>
              </a:effectLst>
              <a:latin typeface="Trebuchet MS" pitchFamily="34" charset="0"/>
            </a:endParaRPr>
          </a:p>
        </p:txBody>
      </p:sp>
      <p:cxnSp>
        <p:nvCxnSpPr>
          <p:cNvPr id="14" name="Straight Arrow Connector 13"/>
          <p:cNvCxnSpPr>
            <a:stCxn id="5" idx="3"/>
            <a:endCxn id="6" idx="1"/>
          </p:cNvCxnSpPr>
          <p:nvPr/>
        </p:nvCxnSpPr>
        <p:spPr bwMode="auto">
          <a:xfrm>
            <a:off x="1885967" y="3593346"/>
            <a:ext cx="658922" cy="113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</p:cxnSp>
      <p:cxnSp>
        <p:nvCxnSpPr>
          <p:cNvPr id="16" name="Straight Arrow Connector 15"/>
          <p:cNvCxnSpPr>
            <a:stCxn id="6" idx="3"/>
            <a:endCxn id="7" idx="1"/>
          </p:cNvCxnSpPr>
          <p:nvPr/>
        </p:nvCxnSpPr>
        <p:spPr bwMode="auto">
          <a:xfrm>
            <a:off x="4135236" y="3593346"/>
            <a:ext cx="658922" cy="233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</p:cxnSp>
      <p:cxnSp>
        <p:nvCxnSpPr>
          <p:cNvPr id="33" name="Straight Arrow Connector 32"/>
          <p:cNvCxnSpPr>
            <a:stCxn id="7" idx="0"/>
            <a:endCxn id="9" idx="2"/>
          </p:cNvCxnSpPr>
          <p:nvPr/>
        </p:nvCxnSpPr>
        <p:spPr bwMode="auto">
          <a:xfrm rot="5400000" flipH="1" flipV="1">
            <a:off x="5250342" y="2920762"/>
            <a:ext cx="677980" cy="1137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</p:cxnSp>
      <p:cxnSp>
        <p:nvCxnSpPr>
          <p:cNvPr id="43" name="Straight Arrow Connector 42"/>
          <p:cNvCxnSpPr>
            <a:stCxn id="10" idx="0"/>
            <a:endCxn id="11" idx="2"/>
          </p:cNvCxnSpPr>
          <p:nvPr/>
        </p:nvCxnSpPr>
        <p:spPr bwMode="auto">
          <a:xfrm rot="5400000" flipH="1" flipV="1">
            <a:off x="7500778" y="2919594"/>
            <a:ext cx="675645" cy="1137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</p:cxnSp>
      <p:cxnSp>
        <p:nvCxnSpPr>
          <p:cNvPr id="46" name="Straight Arrow Connector 45"/>
          <p:cNvCxnSpPr>
            <a:stCxn id="7" idx="2"/>
            <a:endCxn id="12" idx="0"/>
          </p:cNvCxnSpPr>
          <p:nvPr/>
        </p:nvCxnSpPr>
        <p:spPr bwMode="auto">
          <a:xfrm rot="5400000">
            <a:off x="5250342" y="4270599"/>
            <a:ext cx="677979" cy="113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</p:cxnSp>
      <p:cxnSp>
        <p:nvCxnSpPr>
          <p:cNvPr id="60" name="Straight Arrow Connector 59"/>
          <p:cNvCxnSpPr>
            <a:stCxn id="7" idx="3"/>
            <a:endCxn id="10" idx="1"/>
          </p:cNvCxnSpPr>
          <p:nvPr/>
        </p:nvCxnSpPr>
        <p:spPr bwMode="auto">
          <a:xfrm flipV="1">
            <a:off x="6384505" y="3593346"/>
            <a:ext cx="658921" cy="2335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Game 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20720" y="1083720"/>
            <a:ext cx="8229600" cy="479528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dirty="0" smtClean="0"/>
              <a:t>Starting</a:t>
            </a:r>
          </a:p>
          <a:p>
            <a:pPr lvl="1"/>
            <a:r>
              <a:rPr lang="en-US" dirty="0" smtClean="0"/>
              <a:t>Start up takes 3-5 seconds</a:t>
            </a:r>
          </a:p>
          <a:p>
            <a:pPr lvl="1"/>
            <a:r>
              <a:rPr lang="en-US" dirty="0" smtClean="0"/>
              <a:t>Common splash screen will be displayed</a:t>
            </a:r>
          </a:p>
          <a:p>
            <a:r>
              <a:rPr lang="en-US" dirty="0" smtClean="0"/>
              <a:t>Loading</a:t>
            </a:r>
          </a:p>
          <a:p>
            <a:pPr lvl="1"/>
            <a:r>
              <a:rPr lang="en-US" dirty="0" smtClean="0"/>
              <a:t>Keep the time to first screen low</a:t>
            </a:r>
          </a:p>
          <a:p>
            <a:pPr lvl="1"/>
            <a:r>
              <a:rPr lang="en-US" dirty="0" smtClean="0"/>
              <a:t>Don’t ever “freeze” the screen</a:t>
            </a:r>
          </a:p>
          <a:p>
            <a:pPr lvl="1"/>
            <a:r>
              <a:rPr lang="en-US" dirty="0" smtClean="0"/>
              <a:t>Load just what you need to get the menu up</a:t>
            </a:r>
          </a:p>
          <a:p>
            <a:pPr lvl="1"/>
            <a:r>
              <a:rPr lang="en-US" dirty="0" smtClean="0"/>
              <a:t>If it takes longer than a second, display a loading screen that contains animation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Game 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20720" y="1080710"/>
            <a:ext cx="8229600" cy="479528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dirty="0" smtClean="0"/>
              <a:t>Menus</a:t>
            </a:r>
          </a:p>
          <a:p>
            <a:pPr lvl="1"/>
            <a:r>
              <a:rPr lang="en-US" dirty="0" smtClean="0"/>
              <a:t>Consider “signing in” by pressing A or Start</a:t>
            </a:r>
          </a:p>
          <a:p>
            <a:pPr lvl="1"/>
            <a:r>
              <a:rPr lang="en-US" dirty="0" smtClean="0"/>
              <a:t>All menus should navigate the same</a:t>
            </a:r>
          </a:p>
          <a:p>
            <a:pPr lvl="1"/>
            <a:r>
              <a:rPr lang="en-US" dirty="0" smtClean="0"/>
              <a:t>Out of game experience is not glamorous work, but it pays off</a:t>
            </a:r>
          </a:p>
          <a:p>
            <a:pPr lvl="2"/>
            <a:r>
              <a:rPr lang="en-US" dirty="0" smtClean="0"/>
              <a:t>Use the </a:t>
            </a:r>
            <a:r>
              <a:rPr lang="en-US" dirty="0" err="1" smtClean="0"/>
              <a:t>GameStateManagement</a:t>
            </a:r>
            <a:r>
              <a:rPr lang="en-US" dirty="0" smtClean="0"/>
              <a:t> sample to start!</a:t>
            </a:r>
          </a:p>
          <a:p>
            <a:r>
              <a:rPr lang="en-US" dirty="0" smtClean="0"/>
              <a:t>Playing</a:t>
            </a:r>
          </a:p>
          <a:p>
            <a:pPr lvl="1"/>
            <a:r>
              <a:rPr lang="en-US" dirty="0" smtClean="0"/>
              <a:t>That’s up to you!</a:t>
            </a:r>
          </a:p>
          <a:p>
            <a:r>
              <a:rPr lang="en-US" dirty="0" smtClean="0"/>
              <a:t>Exiting</a:t>
            </a:r>
          </a:p>
          <a:p>
            <a:pPr lvl="1"/>
            <a:r>
              <a:rPr lang="en-US" dirty="0" smtClean="0"/>
              <a:t>if trial mode, display a screen that sells your game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520456"/>
            <a:ext cx="8229600" cy="479528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dirty="0" smtClean="0"/>
              <a:t>Single Player and Multiplayer</a:t>
            </a:r>
          </a:p>
          <a:p>
            <a:pPr lvl="1"/>
            <a:r>
              <a:rPr lang="en-US" dirty="0" smtClean="0"/>
              <a:t>If only one mode, use “Start Game”</a:t>
            </a:r>
          </a:p>
          <a:p>
            <a:pPr lvl="1"/>
            <a:r>
              <a:rPr lang="en-US" dirty="0" smtClean="0"/>
              <a:t>Consider entries for specific modes</a:t>
            </a:r>
          </a:p>
          <a:p>
            <a:pPr lvl="2"/>
            <a:r>
              <a:rPr lang="en-US" dirty="0" smtClean="0"/>
              <a:t>Timed, Puzzle, Quick Match, Co-Op, …</a:t>
            </a:r>
          </a:p>
          <a:p>
            <a:r>
              <a:rPr lang="en-US" dirty="0" smtClean="0"/>
              <a:t>Help &amp; Options</a:t>
            </a:r>
          </a:p>
          <a:p>
            <a:r>
              <a:rPr lang="en-US" dirty="0" smtClean="0"/>
              <a:t>Purchase Full Game</a:t>
            </a:r>
          </a:p>
          <a:p>
            <a:pPr lvl="1"/>
            <a:r>
              <a:rPr lang="en-US" dirty="0" smtClean="0"/>
              <a:t>If in trial mode</a:t>
            </a:r>
          </a:p>
          <a:p>
            <a:pPr lvl="1"/>
            <a:r>
              <a:rPr lang="en-US" dirty="0" smtClean="0"/>
              <a:t>Use the </a:t>
            </a:r>
            <a:r>
              <a:rPr lang="en-US" dirty="0" err="1" smtClean="0"/>
              <a:t>ShowMarketPlaceOffer</a:t>
            </a:r>
            <a:r>
              <a:rPr lang="en-US" dirty="0" smtClean="0"/>
              <a:t> API</a:t>
            </a:r>
          </a:p>
          <a:p>
            <a:r>
              <a:rPr lang="en-US" dirty="0" smtClean="0"/>
              <a:t>Quit</a:t>
            </a:r>
          </a:p>
          <a:p>
            <a:endParaRPr lang="en-US" dirty="0" smtClean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23850" y="228600"/>
            <a:ext cx="8515350" cy="1255728"/>
          </a:xfrm>
        </p:spPr>
        <p:txBody>
          <a:bodyPr/>
          <a:lstStyle/>
          <a:p>
            <a:r>
              <a:rPr lang="en-US" dirty="0" smtClean="0"/>
              <a:t>Menus</a:t>
            </a:r>
            <a:br>
              <a:rPr lang="en-US" dirty="0" smtClean="0"/>
            </a:br>
            <a:r>
              <a:rPr lang="en-US" sz="3600" dirty="0" smtClean="0">
                <a:solidFill>
                  <a:srgbClr val="8B9DA7"/>
                </a:solidFill>
              </a:rPr>
              <a:t>Main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1578097" y="1652178"/>
            <a:ext cx="5871164" cy="4404233"/>
            <a:chOff x="1481777" y="1449779"/>
            <a:chExt cx="6225309" cy="4669894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481777" y="1449779"/>
              <a:ext cx="6225309" cy="46698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5" name="TextBox 4"/>
            <p:cNvSpPr txBox="1"/>
            <p:nvPr/>
          </p:nvSpPr>
          <p:spPr>
            <a:xfrm>
              <a:off x="3402449" y="3182590"/>
              <a:ext cx="23391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r>
                <a:rPr lang="en-US" sz="2800" b="1" spc="50" dirty="0" smtClean="0">
                  <a:ln w="11430"/>
                  <a:solidFill>
                    <a:schemeClr val="tx2">
                      <a:lumMod val="50000"/>
                    </a:schemeClr>
                  </a:soli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Bauhaus 93" pitchFamily="82" charset="0"/>
                </a:rPr>
                <a:t>Single Player</a:t>
              </a:r>
              <a:endParaRPr lang="en-US" sz="2800" b="1" spc="50" dirty="0">
                <a:ln w="11430"/>
                <a:solidFill>
                  <a:schemeClr val="tx2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auhaus 93" pitchFamily="82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521873" y="3671953"/>
              <a:ext cx="2100255" cy="52322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r>
                <a:rPr lang="en-US" sz="2800" b="1" spc="50" dirty="0" smtClean="0">
                  <a:ln w="11430"/>
                  <a:solidFill>
                    <a:schemeClr val="tx2">
                      <a:lumMod val="50000"/>
                    </a:schemeClr>
                  </a:soli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Bauhaus 93" pitchFamily="82" charset="0"/>
                </a:rPr>
                <a:t>Multiplayer</a:t>
              </a:r>
              <a:endParaRPr lang="en-US" sz="2800" b="1" spc="50" dirty="0">
                <a:ln w="11430"/>
                <a:solidFill>
                  <a:schemeClr val="tx2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auhaus 93" pitchFamily="82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26119" y="4161316"/>
              <a:ext cx="2691763" cy="52322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r>
                <a:rPr lang="en-US" sz="2800" b="1" spc="50" dirty="0" smtClean="0">
                  <a:ln w="11430"/>
                  <a:solidFill>
                    <a:srgbClr val="FFFF00"/>
                  </a:soli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Bauhaus 93" pitchFamily="82" charset="0"/>
                </a:rPr>
                <a:t>Help &amp; Options</a:t>
              </a:r>
              <a:endParaRPr lang="en-US" sz="2800" b="1" spc="50" dirty="0">
                <a:ln w="11430"/>
                <a:solidFill>
                  <a:srgbClr val="FFFF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auhaus 93" pitchFamily="82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044178" y="4650679"/>
              <a:ext cx="2876224" cy="55478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r>
                <a:rPr lang="en-US" sz="2800" b="1" spc="50" dirty="0" smtClean="0">
                  <a:ln w="11430"/>
                  <a:solidFill>
                    <a:schemeClr val="tx2">
                      <a:lumMod val="50000"/>
                    </a:schemeClr>
                  </a:soli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Bauhaus 93" pitchFamily="82" charset="0"/>
                </a:rPr>
                <a:t>Purchase Game</a:t>
              </a:r>
              <a:endParaRPr lang="en-US" sz="2800" b="1" spc="50" dirty="0">
                <a:ln w="11430"/>
                <a:solidFill>
                  <a:schemeClr val="tx2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auhaus 93" pitchFamily="82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122198" y="5140041"/>
              <a:ext cx="953869" cy="55478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r>
                <a:rPr lang="en-US" sz="2800" b="1" spc="50" dirty="0" smtClean="0">
                  <a:ln w="11430"/>
                  <a:solidFill>
                    <a:schemeClr val="tx2">
                      <a:lumMod val="50000"/>
                    </a:schemeClr>
                  </a:soli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Bauhaus 93" pitchFamily="82" charset="0"/>
                </a:rPr>
                <a:t>Quit</a:t>
              </a:r>
              <a:endParaRPr lang="en-US" sz="2800" b="1" spc="50" dirty="0">
                <a:ln w="11430"/>
                <a:solidFill>
                  <a:schemeClr val="tx2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auhaus 93" pitchFamily="82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281950" y="1947554"/>
              <a:ext cx="458010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b="1" dirty="0" err="1" smtClean="0">
                  <a:ln w="17780" cmpd="sng">
                    <a:solidFill>
                      <a:srgbClr val="FFFFFF"/>
                    </a:solidFill>
                    <a:prstDash val="solid"/>
                    <a:miter lim="800000"/>
                  </a:ln>
                  <a:gradFill rotWithShape="1">
                    <a:gsLst>
                      <a:gs pos="0">
                        <a:srgbClr val="000000">
                          <a:tint val="92000"/>
                          <a:shade val="100000"/>
                          <a:satMod val="150000"/>
                        </a:srgbClr>
                      </a:gs>
                      <a:gs pos="49000">
                        <a:srgbClr val="000000">
                          <a:tint val="89000"/>
                          <a:shade val="90000"/>
                          <a:satMod val="150000"/>
                        </a:srgbClr>
                      </a:gs>
                      <a:gs pos="50000">
                        <a:srgbClr val="000000">
                          <a:tint val="100000"/>
                          <a:shade val="75000"/>
                          <a:satMod val="150000"/>
                        </a:srgbClr>
                      </a:gs>
                      <a:gs pos="95000">
                        <a:srgbClr val="000000">
                          <a:shade val="47000"/>
                          <a:satMod val="150000"/>
                        </a:srgbClr>
                      </a:gs>
                      <a:gs pos="100000">
                        <a:srgbClr val="000000">
                          <a:shade val="39000"/>
                          <a:satMod val="150000"/>
                        </a:srgbClr>
                      </a:gs>
                    </a:gsLst>
                    <a:lin ang="5400000"/>
                  </a:gradFill>
                  <a:effectLst>
                    <a:outerShdw blurRad="50800" algn="tl" rotWithShape="0">
                      <a:srgbClr val="000000"/>
                    </a:outerShdw>
                  </a:effectLst>
                  <a:latin typeface="Bauhaus 93" pitchFamily="82" charset="0"/>
                </a:rPr>
                <a:t>Gamefest</a:t>
              </a:r>
              <a:r>
                <a:rPr lang="en-US" sz="4800" b="1" dirty="0" smtClean="0">
                  <a:ln w="17780" cmpd="sng">
                    <a:solidFill>
                      <a:srgbClr val="FFFFFF"/>
                    </a:solidFill>
                    <a:prstDash val="solid"/>
                    <a:miter lim="800000"/>
                  </a:ln>
                  <a:gradFill rotWithShape="1">
                    <a:gsLst>
                      <a:gs pos="0">
                        <a:srgbClr val="000000">
                          <a:tint val="92000"/>
                          <a:shade val="100000"/>
                          <a:satMod val="150000"/>
                        </a:srgbClr>
                      </a:gs>
                      <a:gs pos="49000">
                        <a:srgbClr val="000000">
                          <a:tint val="89000"/>
                          <a:shade val="90000"/>
                          <a:satMod val="150000"/>
                        </a:srgbClr>
                      </a:gs>
                      <a:gs pos="50000">
                        <a:srgbClr val="000000">
                          <a:tint val="100000"/>
                          <a:shade val="75000"/>
                          <a:satMod val="150000"/>
                        </a:srgbClr>
                      </a:gs>
                      <a:gs pos="95000">
                        <a:srgbClr val="000000">
                          <a:shade val="47000"/>
                          <a:satMod val="150000"/>
                        </a:srgbClr>
                      </a:gs>
                      <a:gs pos="100000">
                        <a:srgbClr val="000000">
                          <a:shade val="39000"/>
                          <a:satMod val="150000"/>
                        </a:srgbClr>
                      </a:gs>
                    </a:gsLst>
                    <a:lin ang="5400000"/>
                  </a:gradFill>
                  <a:effectLst>
                    <a:outerShdw blurRad="50800" algn="tl" rotWithShape="0">
                      <a:srgbClr val="000000"/>
                    </a:outerShdw>
                  </a:effectLst>
                  <a:latin typeface="Bauhaus 93" pitchFamily="82" charset="0"/>
                </a:rPr>
                <a:t> Demo</a:t>
              </a:r>
              <a:endParaRPr lang="en-US" sz="48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Bauhaus 93" pitchFamily="82" charset="0"/>
              </a:endParaRPr>
            </a:p>
          </p:txBody>
        </p:sp>
      </p:grp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23850" y="228600"/>
            <a:ext cx="8515350" cy="1255728"/>
          </a:xfrm>
        </p:spPr>
        <p:txBody>
          <a:bodyPr/>
          <a:lstStyle/>
          <a:p>
            <a:r>
              <a:rPr lang="en-US" dirty="0" smtClean="0"/>
              <a:t>Menus</a:t>
            </a:r>
            <a:br>
              <a:rPr lang="en-US" dirty="0" smtClean="0"/>
            </a:br>
            <a:r>
              <a:rPr lang="en-US" sz="3600" dirty="0" smtClean="0">
                <a:solidFill>
                  <a:srgbClr val="8B9DA7"/>
                </a:solidFill>
              </a:rPr>
              <a:t>Main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520456"/>
            <a:ext cx="8229600" cy="479528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dirty="0" smtClean="0"/>
              <a:t>How to Play</a:t>
            </a:r>
          </a:p>
          <a:p>
            <a:pPr lvl="1"/>
            <a:r>
              <a:rPr lang="en-US" dirty="0" smtClean="0"/>
              <a:t>Display brief tutorial, controls, tips</a:t>
            </a:r>
          </a:p>
          <a:p>
            <a:r>
              <a:rPr lang="en-US" dirty="0" smtClean="0"/>
              <a:t>Control Options</a:t>
            </a:r>
          </a:p>
          <a:p>
            <a:pPr lvl="1"/>
            <a:r>
              <a:rPr lang="en-US" dirty="0" smtClean="0"/>
              <a:t>This is optional, but is a high value add</a:t>
            </a:r>
          </a:p>
          <a:p>
            <a:r>
              <a:rPr lang="en-US" dirty="0" smtClean="0"/>
              <a:t>Audio/Video/… settings</a:t>
            </a:r>
          </a:p>
          <a:p>
            <a:r>
              <a:rPr lang="en-US" dirty="0" smtClean="0"/>
              <a:t>Credits</a:t>
            </a:r>
          </a:p>
          <a:p>
            <a:pPr lvl="1"/>
            <a:r>
              <a:rPr lang="en-US" dirty="0" smtClean="0"/>
              <a:t>Give yourself some props!</a:t>
            </a:r>
          </a:p>
          <a:p>
            <a:r>
              <a:rPr lang="en-US" dirty="0" smtClean="0"/>
              <a:t>For anything that can change, provide a way to reset back to defaults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23850" y="228600"/>
            <a:ext cx="8515350" cy="1255728"/>
          </a:xfrm>
        </p:spPr>
        <p:txBody>
          <a:bodyPr/>
          <a:lstStyle/>
          <a:p>
            <a:r>
              <a:rPr lang="en-US" dirty="0" smtClean="0"/>
              <a:t>Menus</a:t>
            </a:r>
            <a:br>
              <a:rPr lang="en-US" dirty="0" smtClean="0"/>
            </a:br>
            <a:r>
              <a:rPr lang="en-US" sz="3600" dirty="0" smtClean="0">
                <a:solidFill>
                  <a:srgbClr val="8B9DA7"/>
                </a:solidFill>
              </a:rPr>
              <a:t>Help &amp; Options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8097" y="1652178"/>
            <a:ext cx="5871164" cy="4404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488210" y="3286413"/>
            <a:ext cx="2167581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2800" b="1" spc="50" dirty="0" smtClean="0">
                <a:ln w="11430"/>
                <a:solidFill>
                  <a:srgbClr val="FFFF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auhaus 93" pitchFamily="82" charset="0"/>
              </a:rPr>
              <a:t>How to Play</a:t>
            </a:r>
            <a:endParaRPr lang="en-US" sz="2800" b="1" spc="50" dirty="0">
              <a:ln w="11430"/>
              <a:solidFill>
                <a:srgbClr val="FFFF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auhaus 93" pitchFamily="8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85567" y="3747937"/>
            <a:ext cx="1572866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2800" b="1" spc="50" dirty="0" smtClean="0">
                <a:ln w="11430"/>
                <a:solidFill>
                  <a:schemeClr val="tx2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auhaus 93" pitchFamily="82" charset="0"/>
              </a:rPr>
              <a:t>Controls</a:t>
            </a:r>
            <a:endParaRPr lang="en-US" sz="2800" b="1" spc="50" dirty="0">
              <a:ln w="11430"/>
              <a:solidFill>
                <a:schemeClr val="tx2">
                  <a:lumMod val="5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auhaus 93" pitchFamily="8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13995" y="4209461"/>
            <a:ext cx="1116011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2800" b="1" spc="50" dirty="0" smtClean="0">
                <a:ln w="11430"/>
                <a:solidFill>
                  <a:schemeClr val="tx2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auhaus 93" pitchFamily="82" charset="0"/>
              </a:rPr>
              <a:t>Video</a:t>
            </a:r>
            <a:endParaRPr lang="en-US" sz="2800" b="1" spc="50" dirty="0">
              <a:ln w="11430"/>
              <a:solidFill>
                <a:schemeClr val="tx2">
                  <a:lumMod val="5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auhaus 93" pitchFamily="8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82548" y="4670985"/>
            <a:ext cx="1378904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2800" b="1" spc="50" dirty="0" smtClean="0">
                <a:ln w="11430"/>
                <a:solidFill>
                  <a:schemeClr val="tx2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auhaus 93" pitchFamily="82" charset="0"/>
              </a:rPr>
              <a:t>Credits</a:t>
            </a:r>
            <a:endParaRPr lang="en-US" sz="2800" b="1" spc="50" dirty="0">
              <a:ln w="11430"/>
              <a:solidFill>
                <a:schemeClr val="tx2">
                  <a:lumMod val="5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auhaus 93" pitchFamily="8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65956" y="5132508"/>
            <a:ext cx="201208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2800" b="1" spc="50" dirty="0" smtClean="0">
                <a:ln w="11430"/>
                <a:solidFill>
                  <a:schemeClr val="tx2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auhaus 93" pitchFamily="82" charset="0"/>
              </a:rPr>
              <a:t>Main Menu</a:t>
            </a:r>
            <a:endParaRPr lang="en-US" sz="2800" b="1" spc="50" dirty="0">
              <a:ln w="11430"/>
              <a:solidFill>
                <a:schemeClr val="tx2">
                  <a:lumMod val="5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auhaus 93" pitchFamily="8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32750" y="2121636"/>
            <a:ext cx="4319548" cy="783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 err="1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Bauhaus 93" pitchFamily="82" charset="0"/>
              </a:rPr>
              <a:t>Gamefest</a:t>
            </a:r>
            <a:r>
              <a:rPr lang="en-US" sz="48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Bauhaus 93" pitchFamily="82" charset="0"/>
              </a:rPr>
              <a:t> Demo</a:t>
            </a:r>
            <a:endParaRPr lang="en-US" sz="48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Bauhaus 93" pitchFamily="82" charset="0"/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23850" y="228600"/>
            <a:ext cx="8515350" cy="1255728"/>
          </a:xfrm>
        </p:spPr>
        <p:txBody>
          <a:bodyPr/>
          <a:lstStyle/>
          <a:p>
            <a:r>
              <a:rPr lang="en-US" dirty="0" smtClean="0"/>
              <a:t>Menus</a:t>
            </a:r>
            <a:br>
              <a:rPr lang="en-US" dirty="0" smtClean="0"/>
            </a:br>
            <a:r>
              <a:rPr lang="en-US" sz="3600" dirty="0" smtClean="0">
                <a:solidFill>
                  <a:srgbClr val="8B9DA7"/>
                </a:solidFill>
              </a:rPr>
              <a:t>Help &amp; Options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6785" y="1651666"/>
            <a:ext cx="5875397" cy="4407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875150" y="5530849"/>
            <a:ext cx="1491114" cy="4616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2400" b="1" spc="50" dirty="0" smtClean="0">
                <a:ln w="11430"/>
                <a:solidFill>
                  <a:schemeClr val="tx2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auhaus 93" pitchFamily="82" charset="0"/>
              </a:rPr>
              <a:t>&lt; 1 of 3 &gt;</a:t>
            </a:r>
            <a:endParaRPr lang="en-US" sz="2400" b="1" spc="50" dirty="0">
              <a:ln w="11430"/>
              <a:solidFill>
                <a:schemeClr val="tx2">
                  <a:lumMod val="5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auhaus 93" pitchFamily="8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32750" y="2121636"/>
            <a:ext cx="4319548" cy="783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 err="1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Bauhaus 93" pitchFamily="82" charset="0"/>
              </a:rPr>
              <a:t>Gamefest</a:t>
            </a:r>
            <a:r>
              <a:rPr lang="en-US" sz="48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Bauhaus 93" pitchFamily="82" charset="0"/>
              </a:rPr>
              <a:t> Demo</a:t>
            </a:r>
            <a:endParaRPr lang="en-US" sz="48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Bauhaus 93" pitchFamily="82" charset="0"/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23850" y="228600"/>
            <a:ext cx="8515350" cy="1255728"/>
          </a:xfrm>
        </p:spPr>
        <p:txBody>
          <a:bodyPr/>
          <a:lstStyle/>
          <a:p>
            <a:r>
              <a:rPr lang="en-US" dirty="0" smtClean="0"/>
              <a:t>Menus</a:t>
            </a:r>
            <a:br>
              <a:rPr lang="en-US" dirty="0" smtClean="0"/>
            </a:br>
            <a:r>
              <a:rPr lang="en-US" sz="3600" dirty="0" smtClean="0">
                <a:solidFill>
                  <a:srgbClr val="8B9DA7"/>
                </a:solidFill>
              </a:rPr>
              <a:t>How to Play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53077" y="3141928"/>
            <a:ext cx="9220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n w="12700">
                  <a:solidFill>
                    <a:schemeClr val="bg2"/>
                  </a:solidFill>
                </a:ln>
                <a:effectLst>
                  <a:outerShdw blurRad="38100" dist="38100" dir="2700000" algn="ctr" rotWithShape="0">
                    <a:schemeClr val="bg2">
                      <a:alpha val="75000"/>
                    </a:schemeClr>
                  </a:outerShdw>
                </a:effectLst>
                <a:latin typeface="Bauhaus 93" pitchFamily="82" charset="0"/>
              </a:rPr>
              <a:t>Move</a:t>
            </a:r>
            <a:endParaRPr lang="en-US" sz="2400" dirty="0">
              <a:ln w="12700">
                <a:solidFill>
                  <a:schemeClr val="bg2"/>
                </a:solidFill>
              </a:ln>
              <a:effectLst>
                <a:outerShdw blurRad="38100" dist="38100" dir="2700000" algn="ctr" rotWithShape="0">
                  <a:schemeClr val="bg2">
                    <a:alpha val="75000"/>
                  </a:schemeClr>
                </a:outerShdw>
              </a:effectLst>
              <a:latin typeface="Bauhaus 93" pitchFamily="82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52438" y="3983097"/>
            <a:ext cx="6960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n w="12700">
                  <a:solidFill>
                    <a:schemeClr val="bg2"/>
                  </a:solidFill>
                </a:ln>
                <a:effectLst>
                  <a:outerShdw blurRad="38100" dist="38100" dir="2700000" algn="ctr" rotWithShape="0">
                    <a:schemeClr val="bg2">
                      <a:alpha val="75000"/>
                    </a:schemeClr>
                  </a:outerShdw>
                </a:effectLst>
                <a:latin typeface="Bauhaus 93" pitchFamily="82" charset="0"/>
              </a:rPr>
              <a:t>Aim</a:t>
            </a:r>
            <a:endParaRPr lang="en-US" sz="2400" dirty="0">
              <a:ln w="12700">
                <a:solidFill>
                  <a:schemeClr val="bg2"/>
                </a:solidFill>
              </a:ln>
              <a:effectLst>
                <a:outerShdw blurRad="38100" dist="38100" dir="2700000" algn="ctr" rotWithShape="0">
                  <a:schemeClr val="bg2">
                    <a:alpha val="75000"/>
                  </a:schemeClr>
                </a:outerShdw>
              </a:effectLst>
              <a:latin typeface="Bauhaus 93" pitchFamily="82" charset="0"/>
            </a:endParaRPr>
          </a:p>
        </p:txBody>
      </p:sp>
      <p:cxnSp>
        <p:nvCxnSpPr>
          <p:cNvPr id="20" name="Straight Arrow Connector 19"/>
          <p:cNvCxnSpPr>
            <a:stCxn id="14" idx="3"/>
          </p:cNvCxnSpPr>
          <p:nvPr/>
        </p:nvCxnSpPr>
        <p:spPr bwMode="auto">
          <a:xfrm>
            <a:off x="3375124" y="3372761"/>
            <a:ext cx="508107" cy="284839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5" idx="1"/>
          </p:cNvCxnSpPr>
          <p:nvPr/>
        </p:nvCxnSpPr>
        <p:spPr bwMode="auto">
          <a:xfrm rot="10800000">
            <a:off x="4857008" y="4061362"/>
            <a:ext cx="895430" cy="152569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520456"/>
            <a:ext cx="8229600" cy="479528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dirty="0" smtClean="0"/>
              <a:t>Resume Game</a:t>
            </a:r>
          </a:p>
          <a:p>
            <a:r>
              <a:rPr lang="en-US" dirty="0" smtClean="0"/>
              <a:t>Purchase Full Game</a:t>
            </a:r>
          </a:p>
          <a:p>
            <a:r>
              <a:rPr lang="en-US" dirty="0" smtClean="0"/>
              <a:t>Help &amp; Options</a:t>
            </a:r>
          </a:p>
          <a:p>
            <a:r>
              <a:rPr lang="en-US" dirty="0" smtClean="0"/>
              <a:t>Save Game (Optional)</a:t>
            </a:r>
          </a:p>
          <a:p>
            <a:r>
              <a:rPr lang="en-US" dirty="0" smtClean="0"/>
              <a:t>Quit</a:t>
            </a:r>
          </a:p>
          <a:p>
            <a:r>
              <a:rPr lang="en-US" dirty="0" smtClean="0"/>
              <a:t>All games should have a Pause menu!</a:t>
            </a:r>
          </a:p>
          <a:p>
            <a:r>
              <a:rPr lang="en-US" dirty="0" smtClean="0"/>
              <a:t>Multiplayer – pausing usually stops input, but doesn’t stop the game</a:t>
            </a:r>
          </a:p>
          <a:p>
            <a:endParaRPr lang="en-US" sz="2800" dirty="0" smtClean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23850" y="228600"/>
            <a:ext cx="8515350" cy="1255728"/>
          </a:xfrm>
        </p:spPr>
        <p:txBody>
          <a:bodyPr/>
          <a:lstStyle/>
          <a:p>
            <a:r>
              <a:rPr lang="en-US" dirty="0" smtClean="0"/>
              <a:t>Menus</a:t>
            </a:r>
            <a:br>
              <a:rPr lang="en-US" dirty="0" smtClean="0"/>
            </a:br>
            <a:r>
              <a:rPr lang="en-US" sz="3600" dirty="0" smtClean="0">
                <a:solidFill>
                  <a:srgbClr val="8B9DA7"/>
                </a:solidFill>
              </a:rPr>
              <a:t>Pause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 Experience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14325" y="1084263"/>
            <a:ext cx="8524875" cy="5281446"/>
          </a:xfrm>
        </p:spPr>
        <p:txBody>
          <a:bodyPr/>
          <a:lstStyle/>
          <a:p>
            <a:r>
              <a:rPr lang="en-US" dirty="0" smtClean="0"/>
              <a:t>Use standard controls</a:t>
            </a:r>
          </a:p>
          <a:p>
            <a:pPr lvl="1"/>
            <a:r>
              <a:rPr lang="en-US" dirty="0" smtClean="0"/>
              <a:t>A for confirmation, B for cancel</a:t>
            </a:r>
          </a:p>
          <a:p>
            <a:pPr lvl="1"/>
            <a:r>
              <a:rPr lang="en-US" dirty="0" smtClean="0"/>
              <a:t>START pauses, and BACK brings up scoreboard</a:t>
            </a:r>
          </a:p>
          <a:p>
            <a:pPr lvl="1"/>
            <a:r>
              <a:rPr lang="en-US" dirty="0" smtClean="0"/>
              <a:t>Allow navigation with Left Stick and D-Pad</a:t>
            </a:r>
          </a:p>
          <a:p>
            <a:r>
              <a:rPr lang="en-US" dirty="0" smtClean="0"/>
              <a:t>Provide tool tips where appropriate</a:t>
            </a:r>
          </a:p>
          <a:p>
            <a:r>
              <a:rPr lang="en-US" dirty="0" smtClean="0"/>
              <a:t>These are living room games</a:t>
            </a:r>
          </a:p>
          <a:p>
            <a:pPr lvl="1"/>
            <a:r>
              <a:rPr lang="en-US" dirty="0" smtClean="0"/>
              <a:t>Design for simplicity</a:t>
            </a:r>
          </a:p>
          <a:p>
            <a:pPr lvl="1"/>
            <a:r>
              <a:rPr lang="en-US" dirty="0" smtClean="0"/>
              <a:t>Your user won’t be 20 inches away from display</a:t>
            </a:r>
          </a:p>
          <a:p>
            <a:r>
              <a:rPr lang="en-US" dirty="0" smtClean="0"/>
              <a:t>Your game doesn’t need every option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 Experience</a:t>
            </a:r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1578097" y="1652178"/>
            <a:ext cx="5871164" cy="4404233"/>
            <a:chOff x="1578097" y="1652178"/>
            <a:chExt cx="5871164" cy="4404233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578097" y="1652178"/>
              <a:ext cx="5871164" cy="4404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8" name="TextBox 7"/>
            <p:cNvSpPr txBox="1"/>
            <p:nvPr/>
          </p:nvSpPr>
          <p:spPr>
            <a:xfrm>
              <a:off x="2398168" y="3025160"/>
              <a:ext cx="4347665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r>
                <a:rPr lang="en-US" sz="2400" b="1" spc="50" dirty="0" smtClean="0">
                  <a:ln w="11430"/>
                  <a:solidFill>
                    <a:schemeClr val="tx2">
                      <a:lumMod val="50000"/>
                    </a:schemeClr>
                  </a:soli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Bauhaus 93" pitchFamily="82" charset="0"/>
                </a:rPr>
                <a:t>Resolution: 640 | 800 | </a:t>
              </a:r>
              <a:r>
                <a:rPr lang="en-US" sz="2400" b="1" spc="50" dirty="0" smtClean="0">
                  <a:ln w="11430"/>
                  <a:solidFill>
                    <a:srgbClr val="FFFF00"/>
                  </a:soli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Bauhaus 93" pitchFamily="82" charset="0"/>
                </a:rPr>
                <a:t>1280</a:t>
              </a:r>
              <a:endParaRPr lang="en-US" sz="2400" b="1" spc="50" dirty="0">
                <a:ln w="11430"/>
                <a:solidFill>
                  <a:srgbClr val="FFFF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auhaus 93" pitchFamily="82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142489" y="4037366"/>
              <a:ext cx="48590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r>
                <a:rPr lang="en-US" sz="2400" b="1" spc="50" dirty="0" smtClean="0">
                  <a:ln w="11430"/>
                  <a:solidFill>
                    <a:schemeClr val="tx2">
                      <a:lumMod val="50000"/>
                    </a:schemeClr>
                  </a:soli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Bauhaus 93" pitchFamily="82" charset="0"/>
                </a:rPr>
                <a:t>Shadow Detail:  Off | </a:t>
              </a:r>
              <a:r>
                <a:rPr lang="en-US" sz="2400" b="1" spc="50" dirty="0" smtClean="0">
                  <a:ln w="11430"/>
                  <a:solidFill>
                    <a:srgbClr val="FFFF00"/>
                  </a:soli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Bauhaus 93" pitchFamily="82" charset="0"/>
                </a:rPr>
                <a:t>Low</a:t>
              </a:r>
              <a:r>
                <a:rPr lang="en-US" sz="2400" b="1" spc="50" dirty="0" smtClean="0">
                  <a:ln w="11430"/>
                  <a:solidFill>
                    <a:schemeClr val="tx2">
                      <a:lumMod val="50000"/>
                    </a:schemeClr>
                  </a:soli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Bauhaus 93" pitchFamily="82" charset="0"/>
                </a:rPr>
                <a:t> | High</a:t>
              </a:r>
              <a:endParaRPr lang="en-US" sz="2400" b="1" spc="50" dirty="0">
                <a:ln w="11430"/>
                <a:solidFill>
                  <a:schemeClr val="tx2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auhaus 93" pitchFamily="82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641824" y="3531263"/>
              <a:ext cx="38603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r>
                <a:rPr lang="en-US" sz="2400" b="1" spc="50" dirty="0" smtClean="0">
                  <a:ln w="11430"/>
                  <a:solidFill>
                    <a:schemeClr val="tx2">
                      <a:lumMod val="50000"/>
                    </a:schemeClr>
                  </a:soli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Bauhaus 93" pitchFamily="82" charset="0"/>
                </a:rPr>
                <a:t>Model Detail:  Low | </a:t>
              </a:r>
              <a:r>
                <a:rPr lang="en-US" sz="2400" b="1" spc="50" dirty="0" smtClean="0">
                  <a:ln w="11430"/>
                  <a:solidFill>
                    <a:srgbClr val="FFFF00"/>
                  </a:soli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Bauhaus 93" pitchFamily="82" charset="0"/>
                </a:rPr>
                <a:t>High</a:t>
              </a:r>
              <a:endParaRPr lang="en-US" sz="2400" b="1" spc="50" dirty="0">
                <a:ln w="11430"/>
                <a:solidFill>
                  <a:srgbClr val="FFFF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auhaus 93" pitchFamily="82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761248" y="5049572"/>
              <a:ext cx="3621504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r>
                <a:rPr lang="en-US" sz="2400" b="1" spc="50" dirty="0" smtClean="0">
                  <a:ln w="11430"/>
                  <a:solidFill>
                    <a:schemeClr val="tx2">
                      <a:lumMod val="50000"/>
                    </a:schemeClr>
                  </a:soli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Bauhaus 93" pitchFamily="82" charset="0"/>
                </a:rPr>
                <a:t>Anti-Alias:  Off | </a:t>
              </a:r>
              <a:r>
                <a:rPr lang="en-US" sz="2400" b="1" spc="50" dirty="0" smtClean="0">
                  <a:ln w="11430"/>
                  <a:solidFill>
                    <a:srgbClr val="FFFF00"/>
                  </a:soli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Bauhaus 93" pitchFamily="82" charset="0"/>
                </a:rPr>
                <a:t>2x</a:t>
              </a:r>
              <a:r>
                <a:rPr lang="en-US" sz="2400" b="1" spc="50" dirty="0" smtClean="0">
                  <a:ln w="11430"/>
                  <a:solidFill>
                    <a:schemeClr val="tx2">
                      <a:lumMod val="50000"/>
                    </a:schemeClr>
                  </a:soli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Bauhaus 93" pitchFamily="82" charset="0"/>
                </a:rPr>
                <a:t> | 4x</a:t>
              </a:r>
              <a:endParaRPr lang="en-US" sz="2400" b="1" spc="50" dirty="0">
                <a:ln w="11430"/>
                <a:solidFill>
                  <a:schemeClr val="tx2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auhaus 93" pitchFamily="82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332750" y="2121636"/>
              <a:ext cx="4319548" cy="7837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b="1" dirty="0" err="1" smtClean="0">
                  <a:ln w="17780" cmpd="sng">
                    <a:solidFill>
                      <a:srgbClr val="FFFFFF"/>
                    </a:solidFill>
                    <a:prstDash val="solid"/>
                    <a:miter lim="800000"/>
                  </a:ln>
                  <a:gradFill rotWithShape="1">
                    <a:gsLst>
                      <a:gs pos="0">
                        <a:srgbClr val="000000">
                          <a:tint val="92000"/>
                          <a:shade val="100000"/>
                          <a:satMod val="150000"/>
                        </a:srgbClr>
                      </a:gs>
                      <a:gs pos="49000">
                        <a:srgbClr val="000000">
                          <a:tint val="89000"/>
                          <a:shade val="90000"/>
                          <a:satMod val="150000"/>
                        </a:srgbClr>
                      </a:gs>
                      <a:gs pos="50000">
                        <a:srgbClr val="000000">
                          <a:tint val="100000"/>
                          <a:shade val="75000"/>
                          <a:satMod val="150000"/>
                        </a:srgbClr>
                      </a:gs>
                      <a:gs pos="95000">
                        <a:srgbClr val="000000">
                          <a:shade val="47000"/>
                          <a:satMod val="150000"/>
                        </a:srgbClr>
                      </a:gs>
                      <a:gs pos="100000">
                        <a:srgbClr val="000000">
                          <a:shade val="39000"/>
                          <a:satMod val="150000"/>
                        </a:srgbClr>
                      </a:gs>
                    </a:gsLst>
                    <a:lin ang="5400000"/>
                  </a:gradFill>
                  <a:effectLst>
                    <a:outerShdw blurRad="50800" algn="tl" rotWithShape="0">
                      <a:srgbClr val="000000"/>
                    </a:outerShdw>
                  </a:effectLst>
                  <a:latin typeface="Bauhaus 93" pitchFamily="82" charset="0"/>
                </a:rPr>
                <a:t>Gamefest</a:t>
              </a:r>
              <a:r>
                <a:rPr lang="en-US" sz="4800" b="1" dirty="0" smtClean="0">
                  <a:ln w="17780" cmpd="sng">
                    <a:solidFill>
                      <a:srgbClr val="FFFFFF"/>
                    </a:solidFill>
                    <a:prstDash val="solid"/>
                    <a:miter lim="800000"/>
                  </a:ln>
                  <a:gradFill rotWithShape="1">
                    <a:gsLst>
                      <a:gs pos="0">
                        <a:srgbClr val="000000">
                          <a:tint val="92000"/>
                          <a:shade val="100000"/>
                          <a:satMod val="150000"/>
                        </a:srgbClr>
                      </a:gs>
                      <a:gs pos="49000">
                        <a:srgbClr val="000000">
                          <a:tint val="89000"/>
                          <a:shade val="90000"/>
                          <a:satMod val="150000"/>
                        </a:srgbClr>
                      </a:gs>
                      <a:gs pos="50000">
                        <a:srgbClr val="000000">
                          <a:tint val="100000"/>
                          <a:shade val="75000"/>
                          <a:satMod val="150000"/>
                        </a:srgbClr>
                      </a:gs>
                      <a:gs pos="95000">
                        <a:srgbClr val="000000">
                          <a:shade val="47000"/>
                          <a:satMod val="150000"/>
                        </a:srgbClr>
                      </a:gs>
                      <a:gs pos="100000">
                        <a:srgbClr val="000000">
                          <a:shade val="39000"/>
                          <a:satMod val="150000"/>
                        </a:srgbClr>
                      </a:gs>
                    </a:gsLst>
                    <a:lin ang="5400000"/>
                  </a:gradFill>
                  <a:effectLst>
                    <a:outerShdw blurRad="50800" algn="tl" rotWithShape="0">
                      <a:srgbClr val="000000"/>
                    </a:outerShdw>
                  </a:effectLst>
                  <a:latin typeface="Bauhaus 93" pitchFamily="82" charset="0"/>
                </a:rPr>
                <a:t> Demo</a:t>
              </a:r>
              <a:endParaRPr lang="en-US" sz="48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Bauhaus 93" pitchFamily="82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647435" y="5555676"/>
              <a:ext cx="38491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r>
                <a:rPr lang="en-US" sz="2400" b="1" spc="50" dirty="0" smtClean="0">
                  <a:ln w="11430"/>
                  <a:solidFill>
                    <a:schemeClr val="tx2">
                      <a:lumMod val="50000"/>
                    </a:schemeClr>
                  </a:soli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Bauhaus 93" pitchFamily="82" charset="0"/>
                </a:rPr>
                <a:t>Post-Processing:  Off | </a:t>
              </a:r>
              <a:r>
                <a:rPr lang="en-US" sz="2400" b="1" spc="50" dirty="0" smtClean="0">
                  <a:ln w="11430"/>
                  <a:solidFill>
                    <a:srgbClr val="FFFF00"/>
                  </a:soli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Bauhaus 93" pitchFamily="82" charset="0"/>
                </a:rPr>
                <a:t>On</a:t>
              </a:r>
              <a:endParaRPr lang="en-US" sz="2400" b="1" spc="50" dirty="0">
                <a:ln w="11430"/>
                <a:solidFill>
                  <a:srgbClr val="FFFF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auhaus 93" pitchFamily="82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825896" y="4543469"/>
              <a:ext cx="54922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r>
                <a:rPr lang="en-US" sz="2400" b="1" spc="50" dirty="0" smtClean="0">
                  <a:ln w="11430"/>
                  <a:solidFill>
                    <a:schemeClr val="tx2">
                      <a:lumMod val="50000"/>
                    </a:schemeClr>
                  </a:soli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Bauhaus 93" pitchFamily="82" charset="0"/>
                </a:rPr>
                <a:t>Shadow Type:  Stencil | Map | </a:t>
              </a:r>
              <a:r>
                <a:rPr lang="en-US" sz="2400" b="1" spc="50" dirty="0" smtClean="0">
                  <a:ln w="11430"/>
                  <a:solidFill>
                    <a:srgbClr val="FFFF00"/>
                  </a:soli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Bauhaus 93" pitchFamily="82" charset="0"/>
                </a:rPr>
                <a:t>VSM</a:t>
              </a:r>
              <a:r>
                <a:rPr lang="en-US" sz="2400" b="1" spc="50" dirty="0" smtClean="0">
                  <a:ln w="11430"/>
                  <a:solidFill>
                    <a:schemeClr val="tx2">
                      <a:lumMod val="50000"/>
                    </a:schemeClr>
                  </a:soli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Bauhaus 93" pitchFamily="82" charset="0"/>
                </a:rPr>
                <a:t> | </a:t>
              </a:r>
              <a:endParaRPr lang="en-US" sz="2400" b="1" spc="50" dirty="0">
                <a:ln w="11430"/>
                <a:solidFill>
                  <a:schemeClr val="tx2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auhaus 93" pitchFamily="82" charset="0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 rot="19935642">
            <a:off x="1069510" y="1527340"/>
            <a:ext cx="7635833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900" b="1" spc="300" dirty="0" smtClean="0">
                <a:ln w="38100" cmpd="sng">
                  <a:solidFill>
                    <a:srgbClr val="FF0000"/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glow rad="45500">
                    <a:srgbClr val="FFFF00">
                      <a:alpha val="35000"/>
                    </a:srgbClr>
                  </a:glow>
                </a:effectLst>
                <a:latin typeface="Stencil" pitchFamily="82" charset="0"/>
              </a:rPr>
              <a:t>FAIL</a:t>
            </a:r>
            <a:endParaRPr lang="en-US" sz="23900" b="1" spc="300" dirty="0">
              <a:ln w="38100" cmpd="sng">
                <a:solidFill>
                  <a:srgbClr val="FF0000"/>
                </a:solidFill>
                <a:prstDash val="solid"/>
                <a:miter lim="800000"/>
              </a:ln>
              <a:solidFill>
                <a:srgbClr val="C00000"/>
              </a:solidFill>
              <a:effectLst>
                <a:glow rad="45500">
                  <a:srgbClr val="FFFF00">
                    <a:alpha val="35000"/>
                  </a:srgbClr>
                </a:glow>
              </a:effectLst>
              <a:latin typeface="Stencil" pitchFamily="82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Gamer Profiles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14700" y="1084115"/>
            <a:ext cx="8229600" cy="4967514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This is hard to get right</a:t>
            </a:r>
          </a:p>
          <a:p>
            <a:pPr lvl="1"/>
            <a:r>
              <a:rPr lang="en-US" dirty="0" smtClean="0"/>
              <a:t>But your customers will love you for it</a:t>
            </a:r>
          </a:p>
          <a:p>
            <a:r>
              <a:rPr lang="en-US" dirty="0" err="1" smtClean="0"/>
              <a:t>PlayerIndex.One</a:t>
            </a:r>
            <a:r>
              <a:rPr lang="en-US" dirty="0" smtClean="0"/>
              <a:t> is not always the “right” controller</a:t>
            </a:r>
          </a:p>
          <a:p>
            <a:r>
              <a:rPr lang="en-US" dirty="0" smtClean="0"/>
              <a:t>Be flexible with profile requirements</a:t>
            </a:r>
          </a:p>
          <a:p>
            <a:pPr lvl="1"/>
            <a:r>
              <a:rPr lang="en-US" dirty="0" smtClean="0"/>
              <a:t>Have fallbacks for Silver, offline, etc.</a:t>
            </a:r>
          </a:p>
          <a:p>
            <a:r>
              <a:rPr lang="en-US" dirty="0" smtClean="0"/>
              <a:t>Allow profiles to sign in and out anytime</a:t>
            </a:r>
          </a:p>
          <a:p>
            <a:r>
              <a:rPr lang="en-US" dirty="0" smtClean="0"/>
              <a:t>Use  </a:t>
            </a:r>
            <a:r>
              <a:rPr lang="en-US" dirty="0" err="1" smtClean="0"/>
              <a:t>Gamertags</a:t>
            </a:r>
            <a:r>
              <a:rPr lang="en-US" dirty="0" smtClean="0"/>
              <a:t>, gamer pictures, etc.</a:t>
            </a:r>
          </a:p>
          <a:p>
            <a:r>
              <a:rPr lang="en-US" dirty="0" smtClean="0"/>
              <a:t>Allow for viewing of other profiles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8077200" cy="757130"/>
          </a:xfrm>
        </p:spPr>
        <p:txBody>
          <a:bodyPr/>
          <a:lstStyle/>
          <a:p>
            <a:r>
              <a:rPr lang="en-US" dirty="0" smtClean="0">
                <a:effectLst>
                  <a:outerShdw blurRad="76200" dist="38100" dir="2700000" algn="ctr" rotWithShape="0">
                    <a:schemeClr val="bg2"/>
                  </a:outerShdw>
                  <a:reflection blurRad="6350" stA="55000" endA="300" endPos="45500" dir="5400000" sy="-100000" algn="bl" rotWithShape="0"/>
                </a:effectLst>
              </a:rPr>
              <a:t>Technical Considerations</a:t>
            </a:r>
            <a:endParaRPr lang="en-US" dirty="0">
              <a:effectLst>
                <a:outerShdw blurRad="76200" dist="38100" dir="2700000" algn="ctr" rotWithShape="0">
                  <a:schemeClr val="bg2"/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0" y="228600"/>
            <a:ext cx="8515350" cy="1255728"/>
          </a:xfrm>
        </p:spPr>
        <p:txBody>
          <a:bodyPr/>
          <a:lstStyle/>
          <a:p>
            <a:r>
              <a:rPr lang="en-US" dirty="0" smtClean="0"/>
              <a:t>Graphics</a:t>
            </a:r>
            <a:br>
              <a:rPr lang="en-US" dirty="0" smtClean="0"/>
            </a:br>
            <a:r>
              <a:rPr lang="en-US" sz="3600" dirty="0" smtClean="0">
                <a:solidFill>
                  <a:srgbClr val="8B9DA7"/>
                </a:solidFill>
              </a:rPr>
              <a:t>General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600200"/>
            <a:ext cx="8229600" cy="5539978"/>
          </a:xfrm>
          <a:prstGeom prst="rect">
            <a:avLst/>
          </a:prstGeom>
        </p:spPr>
        <p:txBody>
          <a:bodyPr/>
          <a:lstStyle/>
          <a:p>
            <a:r>
              <a:rPr lang="en-US" sz="2800" dirty="0" smtClean="0"/>
              <a:t>Resolutions</a:t>
            </a:r>
          </a:p>
          <a:p>
            <a:pPr lvl="1"/>
            <a:r>
              <a:rPr lang="en-US" sz="2400" dirty="0" smtClean="0"/>
              <a:t>1280×720 is safe bet</a:t>
            </a:r>
          </a:p>
          <a:p>
            <a:pPr lvl="1"/>
            <a:r>
              <a:rPr lang="en-US" sz="2400" dirty="0" smtClean="0"/>
              <a:t>Consider adjusting resolution based on display settings</a:t>
            </a:r>
          </a:p>
          <a:p>
            <a:r>
              <a:rPr lang="en-US" sz="2800" dirty="0" smtClean="0"/>
              <a:t>Scaling</a:t>
            </a:r>
          </a:p>
          <a:p>
            <a:pPr lvl="1"/>
            <a:r>
              <a:rPr lang="en-US" sz="2400" dirty="0" smtClean="0"/>
              <a:t>Xbox 360 will scale game to match display settings</a:t>
            </a:r>
          </a:p>
          <a:p>
            <a:r>
              <a:rPr lang="en-US" sz="2800" dirty="0" smtClean="0"/>
              <a:t>Standard Definition</a:t>
            </a:r>
          </a:p>
          <a:p>
            <a:pPr lvl="1"/>
            <a:r>
              <a:rPr lang="en-US" sz="2400" dirty="0" smtClean="0"/>
              <a:t>Be sure to test text, positions on standard displays!</a:t>
            </a:r>
          </a:p>
          <a:p>
            <a:r>
              <a:rPr lang="en-US" sz="2800" dirty="0" smtClean="0"/>
              <a:t>Color</a:t>
            </a:r>
          </a:p>
          <a:p>
            <a:pPr lvl="1"/>
            <a:r>
              <a:rPr lang="en-US" sz="2400" dirty="0" smtClean="0"/>
              <a:t>Check gamma and saturation</a:t>
            </a:r>
          </a:p>
          <a:p>
            <a:pPr lvl="1"/>
            <a:r>
              <a:rPr lang="en-US" sz="2400" dirty="0" smtClean="0"/>
              <a:t>Watch for color critical </a:t>
            </a:r>
            <a:r>
              <a:rPr lang="en-US" sz="2400" dirty="0" err="1" smtClean="0"/>
              <a:t>gameplay</a:t>
            </a:r>
            <a:r>
              <a:rPr lang="en-US" sz="2400" dirty="0" smtClean="0"/>
              <a:t> 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0" y="228600"/>
            <a:ext cx="8515350" cy="1255728"/>
          </a:xfrm>
        </p:spPr>
        <p:txBody>
          <a:bodyPr/>
          <a:lstStyle/>
          <a:p>
            <a:r>
              <a:rPr lang="en-US" dirty="0" smtClean="0"/>
              <a:t>Graphics</a:t>
            </a:r>
            <a:br>
              <a:rPr lang="en-US" dirty="0" smtClean="0"/>
            </a:br>
            <a:r>
              <a:rPr lang="en-US" sz="3600" dirty="0" smtClean="0">
                <a:solidFill>
                  <a:srgbClr val="8B9DA7"/>
                </a:solidFill>
              </a:rPr>
              <a:t>Letterboxing</a:t>
            </a:r>
            <a:endParaRPr lang="en-US" sz="3600" dirty="0">
              <a:solidFill>
                <a:srgbClr val="8B9DA7"/>
              </a:solidFill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4294967295"/>
          </p:nvPr>
        </p:nvSpPr>
        <p:spPr>
          <a:xfrm>
            <a:off x="457199" y="1600200"/>
            <a:ext cx="8462075" cy="156966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Letterboxing</a:t>
            </a:r>
          </a:p>
          <a:p>
            <a:pPr lvl="1"/>
            <a:r>
              <a:rPr lang="en-US" dirty="0" smtClean="0"/>
              <a:t>16:9 will letterbox on 4:3 displays</a:t>
            </a:r>
          </a:p>
          <a:p>
            <a:pPr lvl="1"/>
            <a:r>
              <a:rPr lang="en-US" dirty="0" smtClean="0"/>
              <a:t>But not 4:3 to 16:9</a:t>
            </a:r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38817" y="3325662"/>
            <a:ext cx="4266367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38817" y="3333428"/>
            <a:ext cx="4266367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3012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437539" y="3723468"/>
            <a:ext cx="4270248" cy="2402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ounded Rectangle 6"/>
          <p:cNvSpPr/>
          <p:nvPr/>
        </p:nvSpPr>
        <p:spPr bwMode="auto">
          <a:xfrm>
            <a:off x="183398" y="4011478"/>
            <a:ext cx="2138766" cy="877824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rebuchet MS" pitchFamily="34" charset="0"/>
              </a:rPr>
              <a:t>16:9 letterboxed on 4:3</a:t>
            </a:r>
            <a:endParaRPr kumimoji="0" lang="en-US" sz="1400" i="0" u="none" strike="noStrike" cap="none" normalizeH="0" baseline="0" dirty="0" smtClean="0"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rebuchet MS" pitchFamily="34" charset="0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182107" y="4011272"/>
            <a:ext cx="2141349" cy="878236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rebuchet MS" pitchFamily="34" charset="0"/>
              </a:rPr>
              <a:t>Watch out for 4:3 area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rebuchet MS" pitchFamily="34" charset="0"/>
              </a:rPr>
              <a:t>on 16:9 </a:t>
            </a:r>
            <a:r>
              <a:rPr lang="en-US" sz="1400" dirty="0" err="1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rebuchet MS" pitchFamily="34" charset="0"/>
              </a:rPr>
              <a:t>backbuffer</a:t>
            </a:r>
            <a:r>
              <a:rPr lang="en-US" sz="1400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rebuchet MS" pitchFamily="34" charset="0"/>
              </a:rPr>
              <a:t> on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rebuchet MS" pitchFamily="34" charset="0"/>
              </a:rPr>
              <a:t>4:3 display!</a:t>
            </a:r>
            <a:endParaRPr kumimoji="0" lang="en-US" sz="1400" i="0" u="none" strike="noStrike" cap="none" normalizeH="0" baseline="0" dirty="0" smtClean="0"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rebuchet MS" pitchFamily="34" charset="0"/>
            </a:endParaRPr>
          </a:p>
        </p:txBody>
      </p:sp>
      <p:sp>
        <p:nvSpPr>
          <p:cNvPr id="10" name="Rounded Rectangle 9"/>
          <p:cNvSpPr/>
          <p:nvPr/>
        </p:nvSpPr>
        <p:spPr bwMode="auto">
          <a:xfrm>
            <a:off x="182107" y="4011272"/>
            <a:ext cx="2141349" cy="878236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rebuchet MS" pitchFamily="34" charset="0"/>
              </a:rPr>
              <a:t>4:3 stretches on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rebuchet MS" pitchFamily="34" charset="0"/>
              </a:rPr>
              <a:t>16:9 displays</a:t>
            </a:r>
            <a:endParaRPr kumimoji="0" lang="en-US" sz="1400" i="0" u="none" strike="noStrike" cap="none" normalizeH="0" baseline="0" dirty="0" smtClean="0"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rebuchet MS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 animBg="1"/>
      <p:bldP spid="9" grpId="0" build="allAtOnce" animBg="1"/>
      <p:bldP spid="10" grpId="0" build="allAtOnce" animBg="1"/>
      <p:bldP spid="10" grpId="1" build="allAtOnce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0" y="228600"/>
            <a:ext cx="8515350" cy="1255728"/>
          </a:xfrm>
        </p:spPr>
        <p:txBody>
          <a:bodyPr/>
          <a:lstStyle/>
          <a:p>
            <a:r>
              <a:rPr lang="en-US" dirty="0" smtClean="0"/>
              <a:t>Graphics</a:t>
            </a:r>
            <a:br>
              <a:rPr lang="en-US" dirty="0" smtClean="0"/>
            </a:br>
            <a:r>
              <a:rPr lang="en-US" sz="3600" dirty="0" smtClean="0">
                <a:solidFill>
                  <a:srgbClr val="8B9DA7"/>
                </a:solidFill>
              </a:rPr>
              <a:t>Safe Regions</a:t>
            </a:r>
            <a:endParaRPr lang="en-US" sz="3600" dirty="0">
              <a:solidFill>
                <a:srgbClr val="8B9DA7"/>
              </a:solidFill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4294967295"/>
          </p:nvPr>
        </p:nvSpPr>
        <p:spPr>
          <a:xfrm>
            <a:off x="457200" y="1600200"/>
            <a:ext cx="8229600" cy="422885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Some displays have </a:t>
            </a:r>
            <a:r>
              <a:rPr lang="en-US" dirty="0" err="1" smtClean="0"/>
              <a:t>overscan</a:t>
            </a:r>
            <a:r>
              <a:rPr lang="en-US" dirty="0" smtClean="0"/>
              <a:t>, which can range from 0%-20%</a:t>
            </a:r>
          </a:p>
          <a:p>
            <a:r>
              <a:rPr lang="en-US" dirty="0" smtClean="0"/>
              <a:t>All critical information should be in the inner 80% of the screen</a:t>
            </a:r>
          </a:p>
          <a:p>
            <a:r>
              <a:rPr lang="en-US" dirty="0" smtClean="0"/>
              <a:t>Important information should be in the inner 90% of the screen</a:t>
            </a:r>
          </a:p>
          <a:p>
            <a:r>
              <a:rPr lang="en-US" dirty="0" smtClean="0"/>
              <a:t>Should render to 100% of screen</a:t>
            </a:r>
          </a:p>
          <a:p>
            <a:r>
              <a:rPr lang="en-US" dirty="0" smtClean="0"/>
              <a:t>Don’t try to be too clever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02" name="Picture 1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8369" y="1600198"/>
            <a:ext cx="7817609" cy="4398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2001" name="Picture 1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58368" y="1595846"/>
            <a:ext cx="7827264" cy="4403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0" y="228600"/>
            <a:ext cx="8515350" cy="1255728"/>
          </a:xfrm>
        </p:spPr>
        <p:txBody>
          <a:bodyPr/>
          <a:lstStyle/>
          <a:p>
            <a:r>
              <a:rPr lang="en-US" dirty="0" smtClean="0"/>
              <a:t>Graphics</a:t>
            </a:r>
            <a:br>
              <a:rPr lang="en-US" dirty="0" smtClean="0"/>
            </a:br>
            <a:r>
              <a:rPr lang="en-US" sz="3600" dirty="0" smtClean="0">
                <a:solidFill>
                  <a:srgbClr val="8B9DA7"/>
                </a:solidFill>
              </a:rPr>
              <a:t>Safe Regions</a:t>
            </a:r>
            <a:endParaRPr lang="en-US" sz="3600" dirty="0">
              <a:solidFill>
                <a:srgbClr val="8B9DA7"/>
              </a:solidFill>
            </a:endParaRPr>
          </a:p>
        </p:txBody>
      </p:sp>
      <p:pic>
        <p:nvPicPr>
          <p:cNvPr id="41998" name="Picture 14" descr="C:\Users\mitchw\Desktop\80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57975" y="1596067"/>
            <a:ext cx="7828051" cy="4404139"/>
          </a:xfrm>
          <a:prstGeom prst="rect">
            <a:avLst/>
          </a:prstGeom>
          <a:noFill/>
        </p:spPr>
      </p:pic>
      <p:pic>
        <p:nvPicPr>
          <p:cNvPr id="41997" name="Picture 13" descr="C:\Users\mitchw\Desktop\90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57975" y="1596066"/>
            <a:ext cx="7828051" cy="4404139"/>
          </a:xfrm>
          <a:prstGeom prst="rect">
            <a:avLst/>
          </a:prstGeom>
          <a:noFill/>
        </p:spPr>
      </p:pic>
      <p:sp>
        <p:nvSpPr>
          <p:cNvPr id="20" name="TextBox 19"/>
          <p:cNvSpPr txBox="1"/>
          <p:nvPr/>
        </p:nvSpPr>
        <p:spPr>
          <a:xfrm>
            <a:off x="1210351" y="5179829"/>
            <a:ext cx="911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n>
                  <a:solidFill>
                    <a:schemeClr val="bg2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90%</a:t>
            </a:r>
            <a:endParaRPr lang="en-US" sz="2400" b="1" dirty="0">
              <a:ln>
                <a:solidFill>
                  <a:schemeClr val="bg2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621056" y="4926542"/>
            <a:ext cx="911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n>
                  <a:solidFill>
                    <a:schemeClr val="bg2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80%</a:t>
            </a:r>
            <a:endParaRPr lang="en-US" sz="2400" b="1" dirty="0">
              <a:ln>
                <a:solidFill>
                  <a:schemeClr val="bg2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2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  <p:bldP spid="2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Audio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14699" y="1080647"/>
            <a:ext cx="8469825" cy="529958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dirty="0" smtClean="0"/>
              <a:t>Output Levels</a:t>
            </a:r>
          </a:p>
          <a:p>
            <a:pPr lvl="1"/>
            <a:r>
              <a:rPr lang="en-US" dirty="0" smtClean="0"/>
              <a:t>Not everyone has the same audio system</a:t>
            </a:r>
          </a:p>
          <a:p>
            <a:pPr lvl="1"/>
            <a:r>
              <a:rPr lang="en-US" dirty="0" smtClean="0"/>
              <a:t>Test different speaker configurations – headphones, stereo, 5.1, etc.</a:t>
            </a:r>
          </a:p>
          <a:p>
            <a:r>
              <a:rPr lang="en-US" dirty="0" smtClean="0"/>
              <a:t>Music</a:t>
            </a:r>
          </a:p>
          <a:p>
            <a:pPr lvl="1"/>
            <a:r>
              <a:rPr lang="en-US" dirty="0" smtClean="0"/>
              <a:t>Game can override current music playback</a:t>
            </a:r>
          </a:p>
          <a:p>
            <a:pPr lvl="1"/>
            <a:r>
              <a:rPr lang="en-US" dirty="0" smtClean="0"/>
              <a:t>Use Song and </a:t>
            </a:r>
            <a:r>
              <a:rPr lang="en-US" dirty="0" err="1" smtClean="0"/>
              <a:t>MediaPlayer.Play</a:t>
            </a:r>
            <a:endParaRPr lang="en-US" dirty="0" smtClean="0"/>
          </a:p>
          <a:p>
            <a:pPr lvl="1"/>
            <a:r>
              <a:rPr lang="en-US" dirty="0" smtClean="0"/>
              <a:t>XACT – Set the Music Category for a Cue</a:t>
            </a:r>
          </a:p>
          <a:p>
            <a:r>
              <a:rPr lang="en-US" dirty="0" smtClean="0"/>
              <a:t>Compression</a:t>
            </a:r>
          </a:p>
          <a:p>
            <a:pPr lvl="1"/>
            <a:r>
              <a:rPr lang="en-US" dirty="0" smtClean="0"/>
              <a:t>Use XMA compression!</a:t>
            </a:r>
          </a:p>
          <a:p>
            <a:pPr lvl="1"/>
            <a:r>
              <a:rPr lang="en-US" dirty="0" smtClean="0"/>
              <a:t>For music, use WMA or MP3 formats</a:t>
            </a:r>
          </a:p>
          <a:p>
            <a:pPr lvl="1"/>
            <a:endParaRPr lang="en-US" sz="3600" dirty="0" smtClean="0"/>
          </a:p>
          <a:p>
            <a:endParaRPr lang="en-US" sz="40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14700" y="1077700"/>
            <a:ext cx="8229600" cy="289925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Make use of the controller subtypes</a:t>
            </a:r>
          </a:p>
          <a:p>
            <a:pPr lvl="1"/>
            <a:r>
              <a:rPr lang="en-US" dirty="0" smtClean="0"/>
              <a:t>Some types provide different data</a:t>
            </a:r>
          </a:p>
          <a:p>
            <a:r>
              <a:rPr lang="en-US" dirty="0" smtClean="0"/>
              <a:t>Unplugged controller should pause game</a:t>
            </a:r>
          </a:p>
          <a:p>
            <a:r>
              <a:rPr lang="en-US" dirty="0" smtClean="0"/>
              <a:t>Use the gamer defaults</a:t>
            </a:r>
          </a:p>
          <a:p>
            <a:r>
              <a:rPr lang="en-US" dirty="0" smtClean="0"/>
              <a:t>Don’t use the keyboard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14700" y="1077700"/>
            <a:ext cx="8229600" cy="452431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Treat the Storage APIs asynchronously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…because they are!</a:t>
            </a:r>
          </a:p>
          <a:p>
            <a:r>
              <a:rPr lang="en-US" dirty="0" smtClean="0"/>
              <a:t>Use the correct location</a:t>
            </a:r>
          </a:p>
          <a:p>
            <a:pPr lvl="1"/>
            <a:r>
              <a:rPr lang="en-US" dirty="0" smtClean="0"/>
              <a:t>Saved games are tied to a profile</a:t>
            </a:r>
          </a:p>
          <a:p>
            <a:pPr lvl="1"/>
            <a:r>
              <a:rPr lang="en-US" dirty="0" smtClean="0"/>
              <a:t>High scores are not</a:t>
            </a:r>
            <a:endParaRPr lang="en-US" dirty="0"/>
          </a:p>
        </p:txBody>
      </p:sp>
      <p:sp>
        <p:nvSpPr>
          <p:cNvPr id="16385" name="Rectangle 1"/>
          <p:cNvSpPr>
            <a:spLocks noChangeArrowheads="1"/>
          </p:cNvSpPr>
          <p:nvPr/>
        </p:nvSpPr>
        <p:spPr bwMode="auto">
          <a:xfrm>
            <a:off x="957373" y="1684987"/>
            <a:ext cx="7346198" cy="1569660"/>
          </a:xfrm>
          <a:prstGeom prst="rect">
            <a:avLst/>
          </a:prstGeom>
          <a:solidFill>
            <a:schemeClr val="tx1"/>
          </a:solidFill>
          <a:ln w="25400">
            <a:solidFill>
              <a:schemeClr val="bg2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2880" tIns="274320" rIns="91440" bIns="2743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2B91AF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IAsyncResult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 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result =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 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2B91AF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Guide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chemeClr val="bg2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.BeginShowStorageDeviceSelector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(</a:t>
            </a:r>
            <a:r>
              <a:rPr lang="en-US" sz="1400" b="1" dirty="0" smtClean="0">
                <a:solidFill>
                  <a:srgbClr val="0000FF"/>
                </a:solidFill>
                <a:latin typeface="Courier New" pitchFamily="49" charset="0"/>
                <a:ea typeface="Calibri" pitchFamily="34" charset="0"/>
                <a:cs typeface="Courier New" pitchFamily="49" charset="0"/>
              </a:rPr>
              <a:t>…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while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 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(!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chemeClr val="bg2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result.IsCompleted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) { }</a:t>
            </a:r>
            <a:endParaRPr kumimoji="0" lang="en-US" sz="1000" b="1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rgbClr val="2B91AF"/>
              </a:solidFill>
              <a:effectLst/>
              <a:latin typeface="Courier New" pitchFamily="49" charset="0"/>
              <a:ea typeface="Calibri" pitchFamily="34" charset="0"/>
              <a:cs typeface="Courier New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2B91AF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StorageDevice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 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device = 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2B91AF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Guide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chemeClr val="bg2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.EndShowStorageDeviceSelector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(result);</a:t>
            </a:r>
            <a:endParaRPr kumimoji="0" lang="en-US" sz="3200" b="1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938149" y="1638795"/>
            <a:ext cx="7406640" cy="164592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6385" grpId="0" animBg="1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Multiplayer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14700" y="1077694"/>
            <a:ext cx="8229600" cy="579851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Add a Quick Match mode</a:t>
            </a:r>
          </a:p>
          <a:p>
            <a:pPr lvl="1"/>
            <a:r>
              <a:rPr lang="en-US" dirty="0" smtClean="0"/>
              <a:t>Perform the query in the background and pick best session</a:t>
            </a:r>
          </a:p>
          <a:p>
            <a:r>
              <a:rPr lang="en-US" dirty="0" smtClean="0"/>
              <a:t>Custom Match</a:t>
            </a:r>
          </a:p>
          <a:p>
            <a:pPr lvl="1"/>
            <a:r>
              <a:rPr lang="en-US" dirty="0" smtClean="0"/>
              <a:t>Specify parameters, filtering, etc</a:t>
            </a:r>
          </a:p>
          <a:p>
            <a:pPr lvl="1"/>
            <a:r>
              <a:rPr lang="en-US" dirty="0" smtClean="0"/>
              <a:t>Only 25 sessions returned</a:t>
            </a:r>
          </a:p>
          <a:p>
            <a:r>
              <a:rPr lang="en-US" dirty="0" smtClean="0"/>
              <a:t>Support invites</a:t>
            </a:r>
          </a:p>
          <a:p>
            <a:pPr lvl="1"/>
            <a:r>
              <a:rPr lang="en-US" dirty="0" smtClean="0"/>
              <a:t>In process is a bit more work</a:t>
            </a:r>
          </a:p>
          <a:p>
            <a:r>
              <a:rPr lang="en-US" dirty="0" smtClean="0"/>
              <a:t>Lobby</a:t>
            </a:r>
          </a:p>
          <a:p>
            <a:pPr lvl="1"/>
            <a:r>
              <a:rPr lang="en-US" dirty="0" smtClean="0"/>
              <a:t>Display match settings</a:t>
            </a:r>
          </a:p>
          <a:p>
            <a:pPr lvl="1"/>
            <a:r>
              <a:rPr lang="en-US" dirty="0" smtClean="0"/>
              <a:t>Support “ready up”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Multiplayer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20720" y="1070767"/>
            <a:ext cx="8229600" cy="511524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Be sure to test, over the internet, your maximum players</a:t>
            </a:r>
          </a:p>
          <a:p>
            <a:r>
              <a:rPr lang="en-US" dirty="0" smtClean="0"/>
              <a:t>Use the packet loss and latency simulation</a:t>
            </a:r>
          </a:p>
          <a:p>
            <a:r>
              <a:rPr lang="en-US" dirty="0" smtClean="0"/>
              <a:t>Voice is automatic, but you may need to manage it</a:t>
            </a:r>
          </a:p>
          <a:p>
            <a:r>
              <a:rPr lang="en-US" dirty="0" smtClean="0"/>
              <a:t>For larger games, consider allowing game management – kick players</a:t>
            </a:r>
          </a:p>
          <a:p>
            <a:r>
              <a:rPr lang="en-US" dirty="0" smtClean="0"/>
              <a:t>See Shawn’s talk for writing </a:t>
            </a:r>
            <a:r>
              <a:rPr lang="en-US" dirty="0" err="1" smtClean="0"/>
              <a:t>performant</a:t>
            </a:r>
            <a:r>
              <a:rPr lang="en-US" dirty="0" smtClean="0"/>
              <a:t> multiplayer games!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 Size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20720" y="1072773"/>
            <a:ext cx="8229600" cy="522604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Games have a 150 MB size limit</a:t>
            </a:r>
          </a:p>
          <a:p>
            <a:r>
              <a:rPr lang="en-US" dirty="0" smtClean="0"/>
              <a:t>All content is compressed by default</a:t>
            </a:r>
          </a:p>
          <a:p>
            <a:r>
              <a:rPr lang="en-US" dirty="0" smtClean="0"/>
              <a:t>Audio compression</a:t>
            </a:r>
          </a:p>
          <a:p>
            <a:pPr lvl="1"/>
            <a:r>
              <a:rPr lang="en-US" dirty="0" smtClean="0"/>
              <a:t>Use it - XMA on the Xbox 360 is quite good</a:t>
            </a:r>
          </a:p>
          <a:p>
            <a:r>
              <a:rPr lang="en-US" dirty="0" smtClean="0"/>
              <a:t>Texture compression</a:t>
            </a:r>
          </a:p>
          <a:p>
            <a:pPr lvl="1"/>
            <a:r>
              <a:rPr lang="en-US" dirty="0" smtClean="0"/>
              <a:t>Use DXT if you can – it often depends on the type of textures</a:t>
            </a:r>
          </a:p>
          <a:p>
            <a:r>
              <a:rPr lang="en-US" dirty="0" smtClean="0"/>
              <a:t>Texture density</a:t>
            </a:r>
          </a:p>
          <a:p>
            <a:pPr lvl="1"/>
            <a:r>
              <a:rPr lang="en-US" dirty="0" smtClean="0"/>
              <a:t>You don’t always need that 2048×2048 crate texture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 Loading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20720" y="1074761"/>
            <a:ext cx="8229600" cy="5521512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For small games, load all content at start up</a:t>
            </a:r>
          </a:p>
          <a:p>
            <a:r>
              <a:rPr lang="en-US" dirty="0" smtClean="0"/>
              <a:t>JIT loading of content is tricky</a:t>
            </a:r>
          </a:p>
          <a:p>
            <a:pPr lvl="1"/>
            <a:r>
              <a:rPr lang="en-US" dirty="0" smtClean="0"/>
              <a:t>Getting it wrong results in hitching or content “popping”</a:t>
            </a:r>
          </a:p>
          <a:p>
            <a:r>
              <a:rPr lang="en-US" dirty="0" smtClean="0"/>
              <a:t>Use a </a:t>
            </a:r>
            <a:r>
              <a:rPr lang="en-US" dirty="0" err="1" smtClean="0"/>
              <a:t>ContentManager</a:t>
            </a:r>
            <a:r>
              <a:rPr lang="en-US" dirty="0" smtClean="0"/>
              <a:t> per “zone” of content</a:t>
            </a:r>
          </a:p>
          <a:p>
            <a:r>
              <a:rPr lang="en-US" dirty="0" smtClean="0"/>
              <a:t>Unloading Content</a:t>
            </a:r>
          </a:p>
          <a:p>
            <a:pPr lvl="1"/>
            <a:r>
              <a:rPr lang="en-US" dirty="0" smtClean="0"/>
              <a:t>Disposing a </a:t>
            </a:r>
            <a:r>
              <a:rPr lang="en-US" dirty="0" err="1" smtClean="0"/>
              <a:t>ContentManager</a:t>
            </a:r>
            <a:r>
              <a:rPr lang="en-US" dirty="0" smtClean="0"/>
              <a:t> is the best way</a:t>
            </a:r>
          </a:p>
          <a:p>
            <a:pPr lvl="1"/>
            <a:r>
              <a:rPr lang="en-US" dirty="0" smtClean="0"/>
              <a:t>Create custom </a:t>
            </a:r>
            <a:r>
              <a:rPr lang="en-US" dirty="0" err="1" smtClean="0"/>
              <a:t>ContentManager</a:t>
            </a:r>
            <a:r>
              <a:rPr lang="en-US" dirty="0" smtClean="0"/>
              <a:t> to provide more fine grained control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14325" y="1070615"/>
            <a:ext cx="8524875" cy="5207579"/>
          </a:xfrm>
        </p:spPr>
        <p:txBody>
          <a:bodyPr/>
          <a:lstStyle/>
          <a:p>
            <a:r>
              <a:rPr lang="en-US" dirty="0" smtClean="0"/>
              <a:t>Submitting a release is “real”</a:t>
            </a:r>
          </a:p>
          <a:p>
            <a:r>
              <a:rPr lang="en-US" dirty="0" smtClean="0"/>
              <a:t>Thorough testing is important</a:t>
            </a:r>
          </a:p>
          <a:p>
            <a:r>
              <a:rPr lang="en-US" dirty="0" smtClean="0"/>
              <a:t>Be sure to have your peers help test your game before submitting</a:t>
            </a:r>
          </a:p>
          <a:p>
            <a:r>
              <a:rPr lang="en-US" dirty="0" smtClean="0"/>
              <a:t>Considerations</a:t>
            </a:r>
          </a:p>
          <a:p>
            <a:pPr lvl="1"/>
            <a:r>
              <a:rPr lang="en-US" dirty="0" smtClean="0"/>
              <a:t>Different displays and video modes</a:t>
            </a:r>
          </a:p>
          <a:p>
            <a:pPr lvl="1"/>
            <a:r>
              <a:rPr lang="en-US" dirty="0" smtClean="0"/>
              <a:t>Gold, Silver, Offline profiles, both signed in and signed out</a:t>
            </a:r>
          </a:p>
          <a:p>
            <a:pPr lvl="1"/>
            <a:r>
              <a:rPr lang="en-US" dirty="0" smtClean="0"/>
              <a:t>Multiple storage devices</a:t>
            </a:r>
          </a:p>
          <a:p>
            <a:pPr lvl="1"/>
            <a:r>
              <a:rPr lang="en-US" dirty="0" smtClean="0"/>
              <a:t>Multiplayer over the Internet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Selling Your Game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34368" y="1067928"/>
            <a:ext cx="8229600" cy="5133713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Game metadata</a:t>
            </a:r>
          </a:p>
          <a:p>
            <a:pPr lvl="1"/>
            <a:r>
              <a:rPr lang="en-US" dirty="0" smtClean="0"/>
              <a:t>Title, Description</a:t>
            </a:r>
          </a:p>
          <a:p>
            <a:pPr lvl="1"/>
            <a:r>
              <a:rPr lang="en-US" dirty="0" smtClean="0"/>
              <a:t>Genre</a:t>
            </a:r>
          </a:p>
          <a:p>
            <a:pPr lvl="1"/>
            <a:r>
              <a:rPr lang="en-US" dirty="0" smtClean="0"/>
              <a:t>Game Capabilities</a:t>
            </a:r>
          </a:p>
          <a:p>
            <a:pPr lvl="1"/>
            <a:r>
              <a:rPr lang="en-US" dirty="0" smtClean="0"/>
              <a:t>Thumbnail, Box art, Screenshots</a:t>
            </a:r>
          </a:p>
          <a:p>
            <a:r>
              <a:rPr lang="en-US" dirty="0" smtClean="0"/>
              <a:t>Trial mode</a:t>
            </a:r>
          </a:p>
          <a:p>
            <a:pPr lvl="1"/>
            <a:r>
              <a:rPr lang="en-US" dirty="0" smtClean="0"/>
              <a:t>Time limited sessions</a:t>
            </a:r>
          </a:p>
          <a:p>
            <a:pPr lvl="1"/>
            <a:r>
              <a:rPr lang="en-US" dirty="0" smtClean="0"/>
              <a:t>Showcase your game inside that time</a:t>
            </a:r>
          </a:p>
          <a:p>
            <a:pPr lvl="1"/>
            <a:r>
              <a:rPr lang="en-US" dirty="0" smtClean="0"/>
              <a:t>Enable customer purchase while game is running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27973" y="1056967"/>
            <a:ext cx="8524875" cy="3859518"/>
          </a:xfrm>
        </p:spPr>
        <p:txBody>
          <a:bodyPr/>
          <a:lstStyle/>
          <a:p>
            <a:r>
              <a:rPr lang="en-US" dirty="0" smtClean="0"/>
              <a:t>Create Your Game</a:t>
            </a:r>
          </a:p>
          <a:p>
            <a:r>
              <a:rPr lang="en-US" dirty="0" smtClean="0"/>
              <a:t>Get started using XNA Game Studio 2.0</a:t>
            </a:r>
          </a:p>
          <a:p>
            <a:r>
              <a:rPr lang="en-US" dirty="0" smtClean="0"/>
              <a:t>Participate in the community beta!</a:t>
            </a:r>
          </a:p>
          <a:p>
            <a:r>
              <a:rPr lang="en-US" dirty="0" smtClean="0"/>
              <a:t>Visit </a:t>
            </a:r>
            <a:r>
              <a:rPr lang="en-US" dirty="0" smtClean="0">
                <a:hlinkClick r:id="rId2"/>
              </a:rPr>
              <a:t>http://creators.xna.com</a:t>
            </a:r>
            <a:endParaRPr lang="en-US" dirty="0" smtClean="0"/>
          </a:p>
          <a:p>
            <a:pPr lvl="1"/>
            <a:r>
              <a:rPr lang="en-US" dirty="0" smtClean="0"/>
              <a:t>Game Best Practices (Soon!)</a:t>
            </a:r>
          </a:p>
          <a:p>
            <a:pPr lvl="1"/>
            <a:r>
              <a:rPr lang="en-US" dirty="0" smtClean="0"/>
              <a:t>Samples, Tutorials, Videos</a:t>
            </a:r>
          </a:p>
          <a:p>
            <a:pPr lvl="1"/>
            <a:r>
              <a:rPr lang="en-US" dirty="0" smtClean="0"/>
              <a:t>Active Forums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3"/>
          <p:cNvSpPr>
            <a:spLocks noChangeArrowheads="1"/>
          </p:cNvSpPr>
          <p:nvPr/>
        </p:nvSpPr>
        <p:spPr bwMode="auto">
          <a:xfrm>
            <a:off x="9525" y="4135438"/>
            <a:ext cx="9118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>
                <a:solidFill>
                  <a:srgbClr val="F4793A"/>
                </a:solidFill>
                <a:hlinkClick r:id="rId3"/>
              </a:rPr>
              <a:t>www.xnagamefest.com</a:t>
            </a:r>
            <a:endParaRPr lang="en-US">
              <a:solidFill>
                <a:srgbClr val="F4793A"/>
              </a:solidFill>
            </a:endParaRPr>
          </a:p>
        </p:txBody>
      </p:sp>
      <p:pic>
        <p:nvPicPr>
          <p:cNvPr id="8195" name="Picture 9" descr="Gamefest2008LogoPPT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320925" y="2117725"/>
            <a:ext cx="4498975" cy="129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6" name="Picture 11" descr="XNA Logo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516813" y="119063"/>
            <a:ext cx="1482725" cy="69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7" name="Text Box 11"/>
          <p:cNvSpPr txBox="1">
            <a:spLocks noChangeArrowheads="1"/>
          </p:cNvSpPr>
          <p:nvPr/>
        </p:nvSpPr>
        <p:spPr bwMode="auto">
          <a:xfrm>
            <a:off x="5637213" y="6270625"/>
            <a:ext cx="3387725" cy="4730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r" eaLnBrk="0" hangingPunct="0"/>
            <a:r>
              <a:rPr lang="en-US" sz="900">
                <a:solidFill>
                  <a:srgbClr val="8B9DA7"/>
                </a:solidFill>
                <a:latin typeface="Arial" charset="0"/>
                <a:cs typeface="Arial" charset="0"/>
              </a:rPr>
              <a:t>© 2008 </a:t>
            </a:r>
            <a:r>
              <a:rPr lang="en-US" sz="900">
                <a:solidFill>
                  <a:srgbClr val="8B9DA7"/>
                </a:solidFill>
                <a:cs typeface="Arial" charset="0"/>
              </a:rPr>
              <a:t>Microsoft</a:t>
            </a:r>
            <a:r>
              <a:rPr lang="en-US" sz="900">
                <a:solidFill>
                  <a:srgbClr val="8B9DA7"/>
                </a:solidFill>
                <a:latin typeface="Arial" charset="0"/>
                <a:cs typeface="Arial" charset="0"/>
              </a:rPr>
              <a:t> Corporation. All rights reserved.</a:t>
            </a:r>
          </a:p>
          <a:p>
            <a:pPr algn="r" eaLnBrk="0" hangingPunct="0"/>
            <a:r>
              <a:rPr lang="en-US" sz="800">
                <a:solidFill>
                  <a:srgbClr val="8B9DA7"/>
                </a:solidFill>
                <a:latin typeface="Arial" charset="0"/>
                <a:cs typeface="Arial" charset="0"/>
              </a:rPr>
              <a:t>This presentation is for informational purposes only. </a:t>
            </a:r>
          </a:p>
          <a:p>
            <a:pPr algn="r" eaLnBrk="0" hangingPunct="0"/>
            <a:r>
              <a:rPr lang="en-US" sz="800">
                <a:solidFill>
                  <a:srgbClr val="8B9DA7"/>
                </a:solidFill>
                <a:latin typeface="Arial" charset="0"/>
                <a:cs typeface="Arial" charset="0"/>
              </a:rPr>
              <a:t>Microsoft makes no warranties, express or implied, in this summary.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TUREPATH" val="GAMEFEST_WIP"/>
</p:tagLst>
</file>

<file path=ppt/theme/theme1.xml><?xml version="1.0" encoding="utf-8"?>
<a:theme xmlns:a="http://schemas.openxmlformats.org/drawingml/2006/main" name="Gamefest PPT Template">
  <a:themeElements>
    <a:clrScheme name="GameFest_2006_S2_V6 1">
      <a:dk1>
        <a:srgbClr val="000000"/>
      </a:dk1>
      <a:lt1>
        <a:srgbClr val="FFFFFF"/>
      </a:lt1>
      <a:dk2>
        <a:srgbClr val="33C9D1"/>
      </a:dk2>
      <a:lt2>
        <a:srgbClr val="FFB601"/>
      </a:lt2>
      <a:accent1>
        <a:srgbClr val="F7E993"/>
      </a:accent1>
      <a:accent2>
        <a:srgbClr val="66CC66"/>
      </a:accent2>
      <a:accent3>
        <a:srgbClr val="ADE1E5"/>
      </a:accent3>
      <a:accent4>
        <a:srgbClr val="DADADA"/>
      </a:accent4>
      <a:accent5>
        <a:srgbClr val="FAF2C8"/>
      </a:accent5>
      <a:accent6>
        <a:srgbClr val="5CB95C"/>
      </a:accent6>
      <a:hlink>
        <a:srgbClr val="6699FF"/>
      </a:hlink>
      <a:folHlink>
        <a:srgbClr val="F98239"/>
      </a:folHlink>
    </a:clrScheme>
    <a:fontScheme name="GameFest_2006_S2_V6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</a:defRPr>
        </a:defPPr>
      </a:lstStyle>
    </a:lnDef>
  </a:objectDefaults>
  <a:extraClrSchemeLst>
    <a:extraClrScheme>
      <a:clrScheme name="GameFest_2006_S2_V6 1">
        <a:dk1>
          <a:srgbClr val="000000"/>
        </a:dk1>
        <a:lt1>
          <a:srgbClr val="FFFFFF"/>
        </a:lt1>
        <a:dk2>
          <a:srgbClr val="33C9D1"/>
        </a:dk2>
        <a:lt2>
          <a:srgbClr val="FFB601"/>
        </a:lt2>
        <a:accent1>
          <a:srgbClr val="F7E993"/>
        </a:accent1>
        <a:accent2>
          <a:srgbClr val="66CC66"/>
        </a:accent2>
        <a:accent3>
          <a:srgbClr val="ADE1E5"/>
        </a:accent3>
        <a:accent4>
          <a:srgbClr val="DADADA"/>
        </a:accent4>
        <a:accent5>
          <a:srgbClr val="FAF2C8"/>
        </a:accent5>
        <a:accent6>
          <a:srgbClr val="5CB95C"/>
        </a:accent6>
        <a:hlink>
          <a:srgbClr val="6699FF"/>
        </a:hlink>
        <a:folHlink>
          <a:srgbClr val="F9823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1214</Words>
  <Application>Microsoft PowerPoint</Application>
  <PresentationFormat>On-screen Show (4:3)</PresentationFormat>
  <Paragraphs>306</Paragraphs>
  <Slides>33</Slides>
  <Notes>27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Gamefest PPT Template</vt:lpstr>
      <vt:lpstr>Slide 1</vt:lpstr>
      <vt:lpstr>Creating Great Community Games</vt:lpstr>
      <vt:lpstr>Why Should I Care?</vt:lpstr>
      <vt:lpstr>Design Considerations</vt:lpstr>
      <vt:lpstr>What Makes a Good Game?</vt:lpstr>
      <vt:lpstr>Game Flow</vt:lpstr>
      <vt:lpstr>Game Flow</vt:lpstr>
      <vt:lpstr>Game Flow</vt:lpstr>
      <vt:lpstr>Menus Main</vt:lpstr>
      <vt:lpstr>Menus Main</vt:lpstr>
      <vt:lpstr>Menus Help &amp; Options</vt:lpstr>
      <vt:lpstr>Menus Help &amp; Options</vt:lpstr>
      <vt:lpstr>Menus How to Play</vt:lpstr>
      <vt:lpstr>Menus Pause</vt:lpstr>
      <vt:lpstr>User Experience</vt:lpstr>
      <vt:lpstr>User Experience</vt:lpstr>
      <vt:lpstr>Gamer Profiles</vt:lpstr>
      <vt:lpstr>Technical Considerations</vt:lpstr>
      <vt:lpstr>Graphics General</vt:lpstr>
      <vt:lpstr>Graphics Letterboxing</vt:lpstr>
      <vt:lpstr>Graphics Safe Regions</vt:lpstr>
      <vt:lpstr>Graphics Safe Regions</vt:lpstr>
      <vt:lpstr>Audio</vt:lpstr>
      <vt:lpstr>Input</vt:lpstr>
      <vt:lpstr>Storage</vt:lpstr>
      <vt:lpstr>Multiplayer</vt:lpstr>
      <vt:lpstr>Multiplayer</vt:lpstr>
      <vt:lpstr>Content Size</vt:lpstr>
      <vt:lpstr>Content Loading</vt:lpstr>
      <vt:lpstr>Testing</vt:lpstr>
      <vt:lpstr>Selling Your Game</vt:lpstr>
      <vt:lpstr>Next Steps</vt:lpstr>
      <vt:lpstr>Slide 33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2008-08-23T00:15:24Z</dcterms:created>
  <dcterms:modified xsi:type="dcterms:W3CDTF">2008-08-23T00:15:46Z</dcterms:modified>
  <cp:contentType/>
</cp:coreProperties>
</file>